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Montserra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7" roundtripDataSignature="AMtx7mjKGj7vYIy8OAvIBbADAR5WGrV5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Italic.fntdata"/><Relationship Id="rId25" Type="http://schemas.openxmlformats.org/officeDocument/2006/relationships/font" Target="fonts/Montserrat-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7"/>
          <p:cNvSpPr/>
          <p:nvPr>
            <p:ph idx="2" type="pic"/>
          </p:nvPr>
        </p:nvSpPr>
        <p:spPr>
          <a:xfrm>
            <a:off x="1792288" y="612775"/>
            <a:ext cx="5486400" cy="4114800"/>
          </a:xfrm>
          <a:prstGeom prst="rect">
            <a:avLst/>
          </a:prstGeom>
          <a:noFill/>
          <a:ln>
            <a:noFill/>
          </a:ln>
        </p:spPr>
      </p:sp>
      <p:sp>
        <p:nvSpPr>
          <p:cNvPr id="68" name="Google Shape;68;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
          <p:cNvSpPr txBox="1"/>
          <p:nvPr/>
        </p:nvSpPr>
        <p:spPr>
          <a:xfrm>
            <a:off x="0" y="1097280"/>
            <a:ext cx="12191695"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none" cap="none" strike="noStrike">
                <a:solidFill>
                  <a:srgbClr val="3A3530"/>
                </a:solidFill>
                <a:latin typeface="Montserrat"/>
                <a:ea typeface="Montserrat"/>
                <a:cs typeface="Montserrat"/>
                <a:sym typeface="Montserrat"/>
              </a:rPr>
              <a:t>BLACKSTONES</a:t>
            </a:r>
            <a:endParaRPr/>
          </a:p>
        </p:txBody>
      </p:sp>
      <p:sp>
        <p:nvSpPr>
          <p:cNvPr id="90" name="Google Shape;90;p1"/>
          <p:cNvSpPr txBox="1"/>
          <p:nvPr/>
        </p:nvSpPr>
        <p:spPr>
          <a:xfrm>
            <a:off x="0" y="1783080"/>
            <a:ext cx="12191695"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400" u="none" cap="none" strike="noStrike">
                <a:solidFill>
                  <a:srgbClr val="5A5040"/>
                </a:solidFill>
                <a:latin typeface="Georgia"/>
                <a:ea typeface="Georgia"/>
                <a:cs typeface="Georgia"/>
                <a:sym typeface="Georgia"/>
              </a:rPr>
              <a:t>Hành Trình Tôn Vinh &amp; Tưởng Nhớ</a:t>
            </a:r>
            <a:endParaRPr/>
          </a:p>
        </p:txBody>
      </p:sp>
      <p:cxnSp>
        <p:nvCxnSpPr>
          <p:cNvPr id="91" name="Google Shape;91;p1"/>
          <p:cNvCxnSpPr/>
          <p:nvPr/>
        </p:nvCxnSpPr>
        <p:spPr>
          <a:xfrm>
            <a:off x="5184648" y="2331720"/>
            <a:ext cx="1828800" cy="0"/>
          </a:xfrm>
          <a:prstGeom prst="straightConnector1">
            <a:avLst/>
          </a:prstGeom>
          <a:noFill/>
          <a:ln cap="flat" cmpd="sng" w="19050">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92" name="Google Shape;92;p1"/>
          <p:cNvSpPr txBox="1"/>
          <p:nvPr/>
        </p:nvSpPr>
        <p:spPr>
          <a:xfrm>
            <a:off x="0" y="2697480"/>
            <a:ext cx="12191695" cy="10972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000" u="none" cap="none" strike="noStrike">
                <a:solidFill>
                  <a:srgbClr val="C5A55A"/>
                </a:solidFill>
                <a:latin typeface="Montserrat"/>
                <a:ea typeface="Montserrat"/>
                <a:cs typeface="Montserrat"/>
                <a:sym typeface="Montserrat"/>
              </a:rPr>
              <a:t>CHƯƠNG TRÌNH HỘI VIÊN TRĂM TUỔI</a:t>
            </a:r>
            <a:endParaRPr/>
          </a:p>
        </p:txBody>
      </p:sp>
      <p:sp>
        <p:nvSpPr>
          <p:cNvPr id="93" name="Google Shape;93;p1"/>
          <p:cNvSpPr txBox="1"/>
          <p:nvPr/>
        </p:nvSpPr>
        <p:spPr>
          <a:xfrm>
            <a:off x="0" y="3840480"/>
            <a:ext cx="12191695"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rgbClr val="5A5040"/>
                </a:solidFill>
                <a:latin typeface="Georgia"/>
                <a:ea typeface="Georgia"/>
                <a:cs typeface="Georgia"/>
                <a:sym typeface="Georgia"/>
              </a:rPr>
              <a:t>Tài liệu triển khai nội bộ  ·  Phổ biến chính sách &amp; Quy trình</a:t>
            </a:r>
            <a:endParaRPr/>
          </a:p>
        </p:txBody>
      </p:sp>
      <p:cxnSp>
        <p:nvCxnSpPr>
          <p:cNvPr id="94" name="Google Shape;94;p1"/>
          <p:cNvCxnSpPr/>
          <p:nvPr/>
        </p:nvCxnSpPr>
        <p:spPr>
          <a:xfrm>
            <a:off x="548640" y="6035040"/>
            <a:ext cx="11091672" cy="0"/>
          </a:xfrm>
          <a:prstGeom prst="straightConnector1">
            <a:avLst/>
          </a:prstGeom>
          <a:noFill/>
          <a:ln cap="flat" cmpd="sng" w="12700">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95" name="Google Shape;95;p1"/>
          <p:cNvSpPr txBox="1"/>
          <p:nvPr/>
        </p:nvSpPr>
        <p:spPr>
          <a:xfrm>
            <a:off x="548640" y="6108192"/>
            <a:ext cx="11091672"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900" u="none" cap="none" strike="noStrike">
                <a:solidFill>
                  <a:srgbClr val="8B7E6A"/>
                </a:solidFill>
                <a:latin typeface="Calibri"/>
                <a:ea typeface="Calibri"/>
                <a:cs typeface="Calibri"/>
                <a:sym typeface="Calibri"/>
              </a:rPr>
              <a:t>Tháng 04 / 2026   |   Lưu hành nội bộ   |   www.blackstones.vn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 name="Google Shape;101;p2"/>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i="0" lang="en-US" sz="1300" u="none" cap="none" strike="noStrike">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b="0" i="1" lang="en-US" sz="800" u="none" cap="none" strike="noStrike">
                <a:solidFill>
                  <a:srgbClr val="8B7E6A"/>
                </a:solidFill>
                <a:latin typeface="Georgia"/>
                <a:ea typeface="Georgia"/>
                <a:cs typeface="Georgia"/>
                <a:sym typeface="Georgia"/>
              </a:rPr>
              <a:t>Hành trình tôn vinh &amp; tưởng nhớ</a:t>
            </a:r>
            <a:endParaRPr/>
          </a:p>
        </p:txBody>
      </p:sp>
      <p:sp>
        <p:nvSpPr>
          <p:cNvPr id="102" name="Google Shape;102;p2"/>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i="0" lang="en-US" sz="2800" u="none" cap="none" strike="noStrike">
                <a:solidFill>
                  <a:srgbClr val="C5A55A"/>
                </a:solidFill>
                <a:latin typeface="Montserrat"/>
                <a:ea typeface="Montserrat"/>
                <a:cs typeface="Montserrat"/>
                <a:sym typeface="Montserrat"/>
              </a:rPr>
              <a:t>NỘI DUNG TRÌNH BÀY</a:t>
            </a:r>
            <a:endParaRPr/>
          </a:p>
        </p:txBody>
      </p:sp>
      <p:sp>
        <p:nvSpPr>
          <p:cNvPr id="103" name="Google Shape;103;p2"/>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Lộ trình phổ biến chính sách Hội Viên Trăm Tuổi</a:t>
            </a:r>
            <a:endParaRPr/>
          </a:p>
        </p:txBody>
      </p:sp>
      <p:cxnSp>
        <p:nvCxnSpPr>
          <p:cNvPr id="104" name="Google Shape;104;p2"/>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105" name="Google Shape;105;p2"/>
          <p:cNvSpPr txBox="1"/>
          <p:nvPr/>
        </p:nvSpPr>
        <p:spPr>
          <a:xfrm>
            <a:off x="548640" y="1737360"/>
            <a:ext cx="82296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C5A55A"/>
                </a:solidFill>
                <a:latin typeface="Montserrat"/>
                <a:ea typeface="Montserrat"/>
                <a:cs typeface="Montserrat"/>
                <a:sym typeface="Montserrat"/>
              </a:rPr>
              <a:t>01</a:t>
            </a:r>
            <a:endParaRPr/>
          </a:p>
        </p:txBody>
      </p:sp>
      <p:sp>
        <p:nvSpPr>
          <p:cNvPr id="106" name="Google Shape;106;p2"/>
          <p:cNvSpPr txBox="1"/>
          <p:nvPr/>
        </p:nvSpPr>
        <p:spPr>
          <a:xfrm>
            <a:off x="1508760" y="1783080"/>
            <a:ext cx="47548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A3530"/>
                </a:solidFill>
                <a:latin typeface="Montserrat"/>
                <a:ea typeface="Montserrat"/>
                <a:cs typeface="Montserrat"/>
                <a:sym typeface="Montserrat"/>
              </a:rPr>
              <a:t>MỤC ĐÍCH &amp; ĐỐI TƯỢNG</a:t>
            </a:r>
            <a:endParaRPr/>
          </a:p>
        </p:txBody>
      </p:sp>
      <p:sp>
        <p:nvSpPr>
          <p:cNvPr id="107" name="Google Shape;107;p2"/>
          <p:cNvSpPr txBox="1"/>
          <p:nvPr/>
        </p:nvSpPr>
        <p:spPr>
          <a:xfrm>
            <a:off x="1508760" y="2167128"/>
            <a:ext cx="4754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5A5040"/>
                </a:solidFill>
                <a:latin typeface="Georgia"/>
                <a:ea typeface="Georgia"/>
                <a:cs typeface="Georgia"/>
                <a:sym typeface="Georgia"/>
              </a:rPr>
              <a:t>Vì sao Blackstones xây dựng chương trình hội viên</a:t>
            </a:r>
            <a:endParaRPr/>
          </a:p>
        </p:txBody>
      </p:sp>
      <p:sp>
        <p:nvSpPr>
          <p:cNvPr id="108" name="Google Shape;108;p2"/>
          <p:cNvSpPr txBox="1"/>
          <p:nvPr/>
        </p:nvSpPr>
        <p:spPr>
          <a:xfrm>
            <a:off x="548640" y="2788920"/>
            <a:ext cx="82296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C5A55A"/>
                </a:solidFill>
                <a:latin typeface="Montserrat"/>
                <a:ea typeface="Montserrat"/>
                <a:cs typeface="Montserrat"/>
                <a:sym typeface="Montserrat"/>
              </a:rPr>
              <a:t>02</a:t>
            </a:r>
            <a:endParaRPr/>
          </a:p>
        </p:txBody>
      </p:sp>
      <p:sp>
        <p:nvSpPr>
          <p:cNvPr id="109" name="Google Shape;109;p2"/>
          <p:cNvSpPr txBox="1"/>
          <p:nvPr/>
        </p:nvSpPr>
        <p:spPr>
          <a:xfrm>
            <a:off x="1508760" y="2834640"/>
            <a:ext cx="47548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A3530"/>
                </a:solidFill>
                <a:latin typeface="Montserrat"/>
                <a:ea typeface="Montserrat"/>
                <a:cs typeface="Montserrat"/>
                <a:sym typeface="Montserrat"/>
              </a:rPr>
              <a:t>CẤU TRÚC QUYỀN LỢI</a:t>
            </a:r>
            <a:endParaRPr/>
          </a:p>
        </p:txBody>
      </p:sp>
      <p:sp>
        <p:nvSpPr>
          <p:cNvPr id="110" name="Google Shape;110;p2"/>
          <p:cNvSpPr txBox="1"/>
          <p:nvPr/>
        </p:nvSpPr>
        <p:spPr>
          <a:xfrm>
            <a:off x="1508760" y="3218688"/>
            <a:ext cx="4754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5A5040"/>
                </a:solidFill>
                <a:latin typeface="Georgia"/>
                <a:ea typeface="Georgia"/>
                <a:cs typeface="Georgia"/>
                <a:sym typeface="Georgia"/>
              </a:rPr>
              <a:t>Gói hội viên, phí tham gia và các đặc quyền</a:t>
            </a:r>
            <a:endParaRPr/>
          </a:p>
        </p:txBody>
      </p:sp>
      <p:sp>
        <p:nvSpPr>
          <p:cNvPr id="111" name="Google Shape;111;p2"/>
          <p:cNvSpPr txBox="1"/>
          <p:nvPr/>
        </p:nvSpPr>
        <p:spPr>
          <a:xfrm>
            <a:off x="548640" y="3840479"/>
            <a:ext cx="82296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C5A55A"/>
                </a:solidFill>
                <a:latin typeface="Montserrat"/>
                <a:ea typeface="Montserrat"/>
                <a:cs typeface="Montserrat"/>
                <a:sym typeface="Montserrat"/>
              </a:rPr>
              <a:t>03</a:t>
            </a:r>
            <a:endParaRPr/>
          </a:p>
        </p:txBody>
      </p:sp>
      <p:sp>
        <p:nvSpPr>
          <p:cNvPr id="112" name="Google Shape;112;p2"/>
          <p:cNvSpPr txBox="1"/>
          <p:nvPr/>
        </p:nvSpPr>
        <p:spPr>
          <a:xfrm>
            <a:off x="1508760" y="3886199"/>
            <a:ext cx="47548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A3530"/>
                </a:solidFill>
                <a:latin typeface="Montserrat"/>
                <a:ea typeface="Montserrat"/>
                <a:cs typeface="Montserrat"/>
                <a:sym typeface="Montserrat"/>
              </a:rPr>
              <a:t>ĐIỀU KIỆN ÁP DỤNG</a:t>
            </a:r>
            <a:endParaRPr/>
          </a:p>
        </p:txBody>
      </p:sp>
      <p:sp>
        <p:nvSpPr>
          <p:cNvPr id="113" name="Google Shape;113;p2"/>
          <p:cNvSpPr txBox="1"/>
          <p:nvPr/>
        </p:nvSpPr>
        <p:spPr>
          <a:xfrm>
            <a:off x="1508760" y="4270247"/>
            <a:ext cx="4754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5A5040"/>
                </a:solidFill>
                <a:latin typeface="Georgia"/>
                <a:ea typeface="Georgia"/>
                <a:cs typeface="Georgia"/>
                <a:sym typeface="Georgia"/>
              </a:rPr>
              <a:t>Giới hạn, gia hạn và thay đổi đối tượng thụ hưởng</a:t>
            </a:r>
            <a:endParaRPr/>
          </a:p>
        </p:txBody>
      </p:sp>
      <p:sp>
        <p:nvSpPr>
          <p:cNvPr id="114" name="Google Shape;114;p2"/>
          <p:cNvSpPr txBox="1"/>
          <p:nvPr/>
        </p:nvSpPr>
        <p:spPr>
          <a:xfrm>
            <a:off x="548640" y="4892040"/>
            <a:ext cx="82296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C5A55A"/>
                </a:solidFill>
                <a:latin typeface="Montserrat"/>
                <a:ea typeface="Montserrat"/>
                <a:cs typeface="Montserrat"/>
                <a:sym typeface="Montserrat"/>
              </a:rPr>
              <a:t>04</a:t>
            </a:r>
            <a:endParaRPr/>
          </a:p>
        </p:txBody>
      </p:sp>
      <p:sp>
        <p:nvSpPr>
          <p:cNvPr id="115" name="Google Shape;115;p2"/>
          <p:cNvSpPr txBox="1"/>
          <p:nvPr/>
        </p:nvSpPr>
        <p:spPr>
          <a:xfrm>
            <a:off x="1508760" y="4937760"/>
            <a:ext cx="47548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A3530"/>
                </a:solidFill>
                <a:latin typeface="Montserrat"/>
                <a:ea typeface="Montserrat"/>
                <a:cs typeface="Montserrat"/>
                <a:sym typeface="Montserrat"/>
              </a:rPr>
              <a:t>QUY TRÌNH BÁN HÀNG</a:t>
            </a:r>
            <a:endParaRPr/>
          </a:p>
        </p:txBody>
      </p:sp>
      <p:sp>
        <p:nvSpPr>
          <p:cNvPr id="116" name="Google Shape;116;p2"/>
          <p:cNvSpPr txBox="1"/>
          <p:nvPr/>
        </p:nvSpPr>
        <p:spPr>
          <a:xfrm>
            <a:off x="1508760" y="5321808"/>
            <a:ext cx="4754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5A5040"/>
                </a:solidFill>
                <a:latin typeface="Georgia"/>
                <a:ea typeface="Georgia"/>
                <a:cs typeface="Georgia"/>
                <a:sym typeface="Georgia"/>
              </a:rPr>
              <a:t>5 bước từ tư vấn đến kết thúc quyền lợi</a:t>
            </a:r>
            <a:endParaRPr/>
          </a:p>
        </p:txBody>
      </p:sp>
      <p:sp>
        <p:nvSpPr>
          <p:cNvPr id="117" name="Google Shape;117;p2"/>
          <p:cNvSpPr txBox="1"/>
          <p:nvPr/>
        </p:nvSpPr>
        <p:spPr>
          <a:xfrm>
            <a:off x="6309360" y="1737360"/>
            <a:ext cx="82296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C5A55A"/>
                </a:solidFill>
                <a:latin typeface="Montserrat"/>
                <a:ea typeface="Montserrat"/>
                <a:cs typeface="Montserrat"/>
                <a:sym typeface="Montserrat"/>
              </a:rPr>
              <a:t>05</a:t>
            </a:r>
            <a:endParaRPr/>
          </a:p>
        </p:txBody>
      </p:sp>
      <p:sp>
        <p:nvSpPr>
          <p:cNvPr id="118" name="Google Shape;118;p2"/>
          <p:cNvSpPr txBox="1"/>
          <p:nvPr/>
        </p:nvSpPr>
        <p:spPr>
          <a:xfrm>
            <a:off x="7269480" y="1783080"/>
            <a:ext cx="47548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A3530"/>
                </a:solidFill>
                <a:latin typeface="Montserrat"/>
                <a:ea typeface="Montserrat"/>
                <a:cs typeface="Montserrat"/>
                <a:sym typeface="Montserrat"/>
              </a:rPr>
              <a:t>QUẢN TRỊ &amp; PHÁP LÝ</a:t>
            </a:r>
            <a:endParaRPr/>
          </a:p>
        </p:txBody>
      </p:sp>
      <p:sp>
        <p:nvSpPr>
          <p:cNvPr id="119" name="Google Shape;119;p2"/>
          <p:cNvSpPr txBox="1"/>
          <p:nvPr/>
        </p:nvSpPr>
        <p:spPr>
          <a:xfrm>
            <a:off x="7269480" y="2167128"/>
            <a:ext cx="4754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5A5040"/>
                </a:solidFill>
                <a:latin typeface="Georgia"/>
                <a:ea typeface="Georgia"/>
                <a:cs typeface="Georgia"/>
                <a:sym typeface="Georgia"/>
              </a:rPr>
              <a:t>Hồ sơ, CRM, mã hội viên, thẻ hội viên</a:t>
            </a:r>
            <a:endParaRPr/>
          </a:p>
        </p:txBody>
      </p:sp>
      <p:sp>
        <p:nvSpPr>
          <p:cNvPr id="120" name="Google Shape;120;p2"/>
          <p:cNvSpPr txBox="1"/>
          <p:nvPr/>
        </p:nvSpPr>
        <p:spPr>
          <a:xfrm>
            <a:off x="6309360" y="2788920"/>
            <a:ext cx="82296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C5A55A"/>
                </a:solidFill>
                <a:latin typeface="Montserrat"/>
                <a:ea typeface="Montserrat"/>
                <a:cs typeface="Montserrat"/>
                <a:sym typeface="Montserrat"/>
              </a:rPr>
              <a:t>06</a:t>
            </a:r>
            <a:endParaRPr/>
          </a:p>
        </p:txBody>
      </p:sp>
      <p:sp>
        <p:nvSpPr>
          <p:cNvPr id="121" name="Google Shape;121;p2"/>
          <p:cNvSpPr txBox="1"/>
          <p:nvPr/>
        </p:nvSpPr>
        <p:spPr>
          <a:xfrm>
            <a:off x="7269480" y="2834640"/>
            <a:ext cx="47548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A3530"/>
                </a:solidFill>
                <a:latin typeface="Montserrat"/>
                <a:ea typeface="Montserrat"/>
                <a:cs typeface="Montserrat"/>
                <a:sym typeface="Montserrat"/>
              </a:rPr>
              <a:t>BỘ CÔNG CỤ BÁN HÀNG</a:t>
            </a:r>
            <a:endParaRPr/>
          </a:p>
        </p:txBody>
      </p:sp>
      <p:sp>
        <p:nvSpPr>
          <p:cNvPr id="122" name="Google Shape;122;p2"/>
          <p:cNvSpPr txBox="1"/>
          <p:nvPr/>
        </p:nvSpPr>
        <p:spPr>
          <a:xfrm>
            <a:off x="7269480" y="3218688"/>
            <a:ext cx="4754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5A5040"/>
                </a:solidFill>
                <a:latin typeface="Georgia"/>
                <a:ea typeface="Georgia"/>
                <a:cs typeface="Georgia"/>
                <a:sym typeface="Georgia"/>
              </a:rPr>
              <a:t>Reason-to-believe, pain points, kịch bản chốt cọc</a:t>
            </a:r>
            <a:endParaRPr/>
          </a:p>
        </p:txBody>
      </p:sp>
      <p:sp>
        <p:nvSpPr>
          <p:cNvPr id="123" name="Google Shape;123;p2"/>
          <p:cNvSpPr txBox="1"/>
          <p:nvPr/>
        </p:nvSpPr>
        <p:spPr>
          <a:xfrm>
            <a:off x="6309360" y="3840479"/>
            <a:ext cx="82296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C5A55A"/>
                </a:solidFill>
                <a:latin typeface="Montserrat"/>
                <a:ea typeface="Montserrat"/>
                <a:cs typeface="Montserrat"/>
                <a:sym typeface="Montserrat"/>
              </a:rPr>
              <a:t>07</a:t>
            </a:r>
            <a:endParaRPr/>
          </a:p>
        </p:txBody>
      </p:sp>
      <p:sp>
        <p:nvSpPr>
          <p:cNvPr id="124" name="Google Shape;124;p2"/>
          <p:cNvSpPr txBox="1"/>
          <p:nvPr/>
        </p:nvSpPr>
        <p:spPr>
          <a:xfrm>
            <a:off x="7269480" y="3886199"/>
            <a:ext cx="47548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A3530"/>
                </a:solidFill>
                <a:latin typeface="Montserrat"/>
                <a:ea typeface="Montserrat"/>
                <a:cs typeface="Montserrat"/>
                <a:sym typeface="Montserrat"/>
              </a:rPr>
              <a:t>DỰ PHÓNG TÀI CHÍNH</a:t>
            </a:r>
            <a:endParaRPr/>
          </a:p>
        </p:txBody>
      </p:sp>
      <p:sp>
        <p:nvSpPr>
          <p:cNvPr id="125" name="Google Shape;125;p2"/>
          <p:cNvSpPr txBox="1"/>
          <p:nvPr/>
        </p:nvSpPr>
        <p:spPr>
          <a:xfrm>
            <a:off x="7269480" y="4270247"/>
            <a:ext cx="4754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5A5040"/>
                </a:solidFill>
                <a:latin typeface="Georgia"/>
                <a:ea typeface="Georgia"/>
                <a:cs typeface="Georgia"/>
                <a:sym typeface="Georgia"/>
              </a:rPr>
              <a:t>Cohort, doanh thu và lợi nhuận 9 năm</a:t>
            </a:r>
            <a:endParaRPr/>
          </a:p>
        </p:txBody>
      </p:sp>
      <p:sp>
        <p:nvSpPr>
          <p:cNvPr id="126" name="Google Shape;126;p2"/>
          <p:cNvSpPr txBox="1"/>
          <p:nvPr/>
        </p:nvSpPr>
        <p:spPr>
          <a:xfrm>
            <a:off x="6309360" y="4892040"/>
            <a:ext cx="82296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rgbClr val="C5A55A"/>
                </a:solidFill>
                <a:latin typeface="Montserrat"/>
                <a:ea typeface="Montserrat"/>
                <a:cs typeface="Montserrat"/>
                <a:sym typeface="Montserrat"/>
              </a:rPr>
              <a:t>08</a:t>
            </a:r>
            <a:endParaRPr/>
          </a:p>
        </p:txBody>
      </p:sp>
      <p:sp>
        <p:nvSpPr>
          <p:cNvPr id="127" name="Google Shape;127;p2"/>
          <p:cNvSpPr txBox="1"/>
          <p:nvPr/>
        </p:nvSpPr>
        <p:spPr>
          <a:xfrm>
            <a:off x="7269480" y="4937760"/>
            <a:ext cx="475488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A3530"/>
                </a:solidFill>
                <a:latin typeface="Montserrat"/>
                <a:ea typeface="Montserrat"/>
                <a:cs typeface="Montserrat"/>
                <a:sym typeface="Montserrat"/>
              </a:rPr>
              <a:t>PHÂN CÔNG TRIỂN KHAI</a:t>
            </a:r>
            <a:endParaRPr/>
          </a:p>
        </p:txBody>
      </p:sp>
      <p:sp>
        <p:nvSpPr>
          <p:cNvPr id="128" name="Google Shape;128;p2"/>
          <p:cNvSpPr txBox="1"/>
          <p:nvPr/>
        </p:nvSpPr>
        <p:spPr>
          <a:xfrm>
            <a:off x="7269480" y="5321808"/>
            <a:ext cx="47548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5A5040"/>
                </a:solidFill>
                <a:latin typeface="Georgia"/>
                <a:ea typeface="Georgia"/>
                <a:cs typeface="Georgia"/>
                <a:sym typeface="Georgia"/>
              </a:rPr>
              <a:t>Trách nhiệm từng phòng ban &amp; bước tiếp theo</a:t>
            </a:r>
            <a:endParaRPr/>
          </a:p>
        </p:txBody>
      </p:sp>
      <p:sp>
        <p:nvSpPr>
          <p:cNvPr id="129" name="Google Shape;129;p2"/>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2"/>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Mỗi phòng ban cần nắm rõ 8 nội dung trên để triển khai đồng bộ từ tháng 04/2026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 name="Google Shape;136;p3"/>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137" name="Google Shape;137;p3"/>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MỤC ĐÍCH CHƯƠNG TRÌNH</a:t>
            </a:r>
            <a:endParaRPr/>
          </a:p>
        </p:txBody>
      </p:sp>
      <p:sp>
        <p:nvSpPr>
          <p:cNvPr id="138" name="Google Shape;138;p3"/>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Vì sao Blackstones ra mắt Hội Viên Trăm Tuổi</a:t>
            </a:r>
            <a:endParaRPr/>
          </a:p>
        </p:txBody>
      </p:sp>
      <p:cxnSp>
        <p:nvCxnSpPr>
          <p:cNvPr id="139" name="Google Shape;139;p3"/>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140" name="Google Shape;140;p3"/>
          <p:cNvSpPr/>
          <p:nvPr/>
        </p:nvSpPr>
        <p:spPr>
          <a:xfrm>
            <a:off x="548640" y="1600200"/>
            <a:ext cx="11091672" cy="1325880"/>
          </a:xfrm>
          <a:prstGeom prst="roundRect">
            <a:avLst>
              <a:gd fmla="val 8000" name="adj"/>
            </a:avLst>
          </a:prstGeom>
          <a:solidFill>
            <a:srgbClr val="F5F0EB"/>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3"/>
          <p:cNvSpPr txBox="1"/>
          <p:nvPr/>
        </p:nvSpPr>
        <p:spPr>
          <a:xfrm>
            <a:off x="777240" y="1737360"/>
            <a:ext cx="10607040" cy="6822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PRODUCT CONCEPT</a:t>
            </a:r>
            <a:endParaRPr/>
          </a:p>
          <a:p>
            <a:pPr indent="0" lvl="0" marL="0" marR="0" rtl="0" algn="l">
              <a:spcBef>
                <a:spcPts val="400"/>
              </a:spcBef>
              <a:spcAft>
                <a:spcPts val="0"/>
              </a:spcAft>
              <a:buNone/>
            </a:pPr>
            <a:r>
              <a:rPr i="1" lang="en-US" sz="1200">
                <a:solidFill>
                  <a:srgbClr val="3A3530"/>
                </a:solidFill>
                <a:latin typeface="Georgia"/>
                <a:ea typeface="Georgia"/>
                <a:cs typeface="Georgia"/>
                <a:sym typeface="Georgia"/>
              </a:rPr>
              <a:t>“Hội Viên Trăm Tuổi” là giải pháp chủ động giúp khách hàng hoạch định trọn vẹn hậu sự từ sớm, giảm thiểu đáng kể chi phí và đảm bảo mọi nghi thức được chuẩn bị chu toàn. Chỉ từ 2 triệu đồng cho 10 năm, hội viên được bảo vệ trước rủi ro, an tâm tuyệt đối và trao lại sự nhẹ nhàng cho người thân.</a:t>
            </a:r>
            <a:endParaRPr/>
          </a:p>
        </p:txBody>
      </p:sp>
      <p:sp>
        <p:nvSpPr>
          <p:cNvPr id="142" name="Google Shape;142;p3"/>
          <p:cNvSpPr/>
          <p:nvPr/>
        </p:nvSpPr>
        <p:spPr>
          <a:xfrm>
            <a:off x="548640" y="3154680"/>
            <a:ext cx="3544824" cy="1874519"/>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 name="Google Shape;143;p3"/>
          <p:cNvSpPr txBox="1"/>
          <p:nvPr/>
        </p:nvSpPr>
        <p:spPr>
          <a:xfrm>
            <a:off x="685800" y="3291840"/>
            <a:ext cx="3270504"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CAM KẾT DÀI HẠN</a:t>
            </a:r>
            <a:endParaRPr/>
          </a:p>
        </p:txBody>
      </p:sp>
      <p:sp>
        <p:nvSpPr>
          <p:cNvPr id="144" name="Google Shape;144;p3"/>
          <p:cNvSpPr txBox="1"/>
          <p:nvPr/>
        </p:nvSpPr>
        <p:spPr>
          <a:xfrm>
            <a:off x="685800" y="3703320"/>
            <a:ext cx="3270504" cy="1188719"/>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00">
                <a:solidFill>
                  <a:srgbClr val="C5A55A"/>
                </a:solidFill>
                <a:latin typeface="Calibri"/>
                <a:ea typeface="Calibri"/>
                <a:cs typeface="Calibri"/>
                <a:sym typeface="Calibri"/>
              </a:rPr>
              <a:t>▪  </a:t>
            </a:r>
            <a:r>
              <a:rPr lang="en-US" sz="1000">
                <a:solidFill>
                  <a:srgbClr val="3A3530"/>
                </a:solidFill>
                <a:latin typeface="Calibri"/>
                <a:ea typeface="Calibri"/>
                <a:cs typeface="Calibri"/>
                <a:sym typeface="Calibri"/>
              </a:rPr>
              <a:t>Dùng ưu đãi để thuyết phục khách hàng cam kết với Công ty trong 5 – 10 – 20 năm.</a:t>
            </a:r>
            <a:endParaRPr/>
          </a:p>
        </p:txBody>
      </p:sp>
      <p:sp>
        <p:nvSpPr>
          <p:cNvPr id="145" name="Google Shape;145;p3"/>
          <p:cNvSpPr/>
          <p:nvPr/>
        </p:nvSpPr>
        <p:spPr>
          <a:xfrm>
            <a:off x="4322064" y="3154680"/>
            <a:ext cx="3544824" cy="1874519"/>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 name="Google Shape;146;p3"/>
          <p:cNvSpPr txBox="1"/>
          <p:nvPr/>
        </p:nvSpPr>
        <p:spPr>
          <a:xfrm>
            <a:off x="4459224" y="3291840"/>
            <a:ext cx="3270504"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MỞ RỘNG KHÁCH HÀNG CHUẨN BỊ TRƯỚC</a:t>
            </a:r>
            <a:endParaRPr/>
          </a:p>
        </p:txBody>
      </p:sp>
      <p:sp>
        <p:nvSpPr>
          <p:cNvPr id="147" name="Google Shape;147;p3"/>
          <p:cNvSpPr txBox="1"/>
          <p:nvPr/>
        </p:nvSpPr>
        <p:spPr>
          <a:xfrm>
            <a:off x="4459224" y="3703320"/>
            <a:ext cx="3270504" cy="1188719"/>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00">
                <a:solidFill>
                  <a:srgbClr val="C5A55A"/>
                </a:solidFill>
                <a:latin typeface="Calibri"/>
                <a:ea typeface="Calibri"/>
                <a:cs typeface="Calibri"/>
                <a:sym typeface="Calibri"/>
              </a:rPr>
              <a:t>▪  </a:t>
            </a:r>
            <a:r>
              <a:rPr lang="en-US" sz="1000">
                <a:solidFill>
                  <a:srgbClr val="3A3530"/>
                </a:solidFill>
                <a:latin typeface="Calibri"/>
                <a:ea typeface="Calibri"/>
                <a:cs typeface="Calibri"/>
                <a:sym typeface="Calibri"/>
              </a:rPr>
              <a:t>Chủ động tiếp cận tệp khách hàng mua chuẩn bị trước – thị trường tiềm năng chưa khai phá.</a:t>
            </a:r>
            <a:endParaRPr/>
          </a:p>
        </p:txBody>
      </p:sp>
      <p:sp>
        <p:nvSpPr>
          <p:cNvPr id="148" name="Google Shape;148;p3"/>
          <p:cNvSpPr/>
          <p:nvPr/>
        </p:nvSpPr>
        <p:spPr>
          <a:xfrm>
            <a:off x="8095488" y="3154680"/>
            <a:ext cx="3544824" cy="1874519"/>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3"/>
          <p:cNvSpPr txBox="1"/>
          <p:nvPr/>
        </p:nvSpPr>
        <p:spPr>
          <a:xfrm>
            <a:off x="8232648" y="3291840"/>
            <a:ext cx="3270504"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GIẢM RÀO CẢN SO VỚI KHTT</a:t>
            </a:r>
            <a:endParaRPr/>
          </a:p>
        </p:txBody>
      </p:sp>
      <p:sp>
        <p:nvSpPr>
          <p:cNvPr id="150" name="Google Shape;150;p3"/>
          <p:cNvSpPr txBox="1"/>
          <p:nvPr/>
        </p:nvSpPr>
        <p:spPr>
          <a:xfrm>
            <a:off x="8232648" y="3703320"/>
            <a:ext cx="3270504" cy="1188719"/>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00">
                <a:solidFill>
                  <a:srgbClr val="C5A55A"/>
                </a:solidFill>
                <a:latin typeface="Calibri"/>
                <a:ea typeface="Calibri"/>
                <a:cs typeface="Calibri"/>
                <a:sym typeface="Calibri"/>
              </a:rPr>
              <a:t>▪  </a:t>
            </a:r>
            <a:r>
              <a:rPr lang="en-US" sz="1000">
                <a:solidFill>
                  <a:srgbClr val="3A3530"/>
                </a:solidFill>
                <a:latin typeface="Calibri"/>
                <a:ea typeface="Calibri"/>
                <a:cs typeface="Calibri"/>
                <a:sym typeface="Calibri"/>
              </a:rPr>
              <a:t>Chi phí tham gia thấp hơn nhiều, quyền lợi kéo dài hơn so với Kế Hoạch 100 Tuổi truyền thống.</a:t>
            </a:r>
            <a:endParaRPr/>
          </a:p>
        </p:txBody>
      </p:sp>
      <p:sp>
        <p:nvSpPr>
          <p:cNvPr id="151" name="Google Shape;151;p3"/>
          <p:cNvSpPr txBox="1"/>
          <p:nvPr/>
        </p:nvSpPr>
        <p:spPr>
          <a:xfrm>
            <a:off x="548640" y="5257800"/>
            <a:ext cx="11091672"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400">
                <a:solidFill>
                  <a:srgbClr val="5A5040"/>
                </a:solidFill>
                <a:latin typeface="Georgia"/>
                <a:ea typeface="Georgia"/>
                <a:cs typeface="Georgia"/>
                <a:sym typeface="Georgia"/>
              </a:rPr>
              <a:t>An Tâm và Tin Cậy  —  Hành trình chuẩn bị trọn vẹn cho 10 năm tiếp theo</a:t>
            </a:r>
            <a:endParaRPr/>
          </a:p>
        </p:txBody>
      </p:sp>
      <p:sp>
        <p:nvSpPr>
          <p:cNvPr id="152" name="Google Shape;152;p3"/>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3"/>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Mục tiêu cốt lõi: biến khách hàng tiềm năng thành khách hàng cam kết dài hạn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4"/>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4"/>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160" name="Google Shape;160;p4"/>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KHÁCH HÀNG MỤC TIÊU</a:t>
            </a:r>
            <a:endParaRPr/>
          </a:p>
        </p:txBody>
      </p:sp>
      <p:sp>
        <p:nvSpPr>
          <p:cNvPr id="161" name="Google Shape;161;p4"/>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Ba nhóm đối tượng trọng tâm của chương trình</a:t>
            </a:r>
            <a:endParaRPr/>
          </a:p>
        </p:txBody>
      </p:sp>
      <p:cxnSp>
        <p:nvCxnSpPr>
          <p:cNvPr id="162" name="Google Shape;162;p4"/>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163" name="Google Shape;163;p4"/>
          <p:cNvSpPr/>
          <p:nvPr/>
        </p:nvSpPr>
        <p:spPr>
          <a:xfrm>
            <a:off x="548640" y="1691640"/>
            <a:ext cx="3514344" cy="43434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 name="Google Shape;164;p4"/>
          <p:cNvSpPr txBox="1"/>
          <p:nvPr/>
        </p:nvSpPr>
        <p:spPr>
          <a:xfrm>
            <a:off x="731520" y="1783080"/>
            <a:ext cx="109728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C5A55A"/>
                </a:solidFill>
                <a:latin typeface="Montserrat"/>
                <a:ea typeface="Montserrat"/>
                <a:cs typeface="Montserrat"/>
                <a:sym typeface="Montserrat"/>
              </a:rPr>
              <a:t>01</a:t>
            </a:r>
            <a:endParaRPr/>
          </a:p>
        </p:txBody>
      </p:sp>
      <p:sp>
        <p:nvSpPr>
          <p:cNvPr id="165" name="Google Shape;165;p4"/>
          <p:cNvSpPr txBox="1"/>
          <p:nvPr/>
        </p:nvSpPr>
        <p:spPr>
          <a:xfrm>
            <a:off x="731520" y="2514600"/>
            <a:ext cx="3148584"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A3530"/>
                </a:solidFill>
                <a:latin typeface="Montserrat"/>
                <a:ea typeface="Montserrat"/>
                <a:cs typeface="Montserrat"/>
                <a:sym typeface="Montserrat"/>
              </a:rPr>
              <a:t>CON CÁI CÓ BA MẸ LỚN TUỔI</a:t>
            </a:r>
            <a:endParaRPr/>
          </a:p>
        </p:txBody>
      </p:sp>
      <p:cxnSp>
        <p:nvCxnSpPr>
          <p:cNvPr id="166" name="Google Shape;166;p4"/>
          <p:cNvCxnSpPr/>
          <p:nvPr/>
        </p:nvCxnSpPr>
        <p:spPr>
          <a:xfrm>
            <a:off x="0" y="3154680"/>
            <a:ext cx="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167" name="Google Shape;167;p4"/>
          <p:cNvSpPr txBox="1"/>
          <p:nvPr/>
        </p:nvSpPr>
        <p:spPr>
          <a:xfrm>
            <a:off x="731520" y="3291840"/>
            <a:ext cx="3148584" cy="265176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Dấu hiệu cần DVTL chưa rõ ràng</a:t>
            </a:r>
            <a:endParaRPr/>
          </a:p>
          <a:p>
            <a:pPr indent="0" lvl="0" marL="0" marR="0" rtl="0" algn="l">
              <a:lnSpc>
                <a:spcPct val="120000"/>
              </a:lnSpc>
              <a:spcBef>
                <a:spcPts val="4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Ba mẹ đã già nhưng chưa ốm</a:t>
            </a:r>
            <a:endParaRPr/>
          </a:p>
          <a:p>
            <a:pPr indent="0" lvl="0" marL="0" marR="0" rtl="0" algn="l">
              <a:lnSpc>
                <a:spcPct val="120000"/>
              </a:lnSpc>
              <a:spcBef>
                <a:spcPts val="4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Có nhu cầu chuẩn bị trước nhưng chưa biết bắt đầu từ đâu</a:t>
            </a:r>
            <a:endParaRPr/>
          </a:p>
          <a:p>
            <a:pPr indent="0" lvl="0" marL="0" marR="0" rtl="0" algn="l">
              <a:lnSpc>
                <a:spcPct val="120000"/>
              </a:lnSpc>
              <a:spcBef>
                <a:spcPts val="4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Ngại bàn chuyện hậu sự trực tiếp với cha mẹ</a:t>
            </a:r>
            <a:endParaRPr/>
          </a:p>
        </p:txBody>
      </p:sp>
      <p:sp>
        <p:nvSpPr>
          <p:cNvPr id="168" name="Google Shape;168;p4"/>
          <p:cNvSpPr/>
          <p:nvPr/>
        </p:nvSpPr>
        <p:spPr>
          <a:xfrm>
            <a:off x="4337304" y="1691640"/>
            <a:ext cx="3514344" cy="43434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p4"/>
          <p:cNvSpPr txBox="1"/>
          <p:nvPr/>
        </p:nvSpPr>
        <p:spPr>
          <a:xfrm>
            <a:off x="4520184" y="1783080"/>
            <a:ext cx="109728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C5A55A"/>
                </a:solidFill>
                <a:latin typeface="Montserrat"/>
                <a:ea typeface="Montserrat"/>
                <a:cs typeface="Montserrat"/>
                <a:sym typeface="Montserrat"/>
              </a:rPr>
              <a:t>02</a:t>
            </a:r>
            <a:endParaRPr/>
          </a:p>
        </p:txBody>
      </p:sp>
      <p:sp>
        <p:nvSpPr>
          <p:cNvPr id="170" name="Google Shape;170;p4"/>
          <p:cNvSpPr txBox="1"/>
          <p:nvPr/>
        </p:nvSpPr>
        <p:spPr>
          <a:xfrm>
            <a:off x="4520184" y="2514600"/>
            <a:ext cx="3148584"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A3530"/>
                </a:solidFill>
                <a:latin typeface="Montserrat"/>
                <a:ea typeface="Montserrat"/>
                <a:cs typeface="Montserrat"/>
                <a:sym typeface="Montserrat"/>
              </a:rPr>
              <a:t>NGƯỜI LỚN TUỔI TỰ CHUẨN BỊ</a:t>
            </a:r>
            <a:endParaRPr/>
          </a:p>
        </p:txBody>
      </p:sp>
      <p:cxnSp>
        <p:nvCxnSpPr>
          <p:cNvPr id="171" name="Google Shape;171;p4"/>
          <p:cNvCxnSpPr/>
          <p:nvPr/>
        </p:nvCxnSpPr>
        <p:spPr>
          <a:xfrm>
            <a:off x="0" y="3154680"/>
            <a:ext cx="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172" name="Google Shape;172;p4"/>
          <p:cNvSpPr txBox="1"/>
          <p:nvPr/>
        </p:nvSpPr>
        <p:spPr>
          <a:xfrm>
            <a:off x="4520184" y="3291840"/>
            <a:ext cx="3148584" cy="265176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Tâm lý không muốn phiền con cái</a:t>
            </a:r>
            <a:endParaRPr/>
          </a:p>
          <a:p>
            <a:pPr indent="0" lvl="0" marL="0" marR="0" rtl="0" algn="l">
              <a:lnSpc>
                <a:spcPct val="120000"/>
              </a:lnSpc>
              <a:spcBef>
                <a:spcPts val="4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Chủ động lo liệu cho chính mình</a:t>
            </a:r>
            <a:endParaRPr/>
          </a:p>
          <a:p>
            <a:pPr indent="0" lvl="0" marL="0" marR="0" rtl="0" algn="l">
              <a:lnSpc>
                <a:spcPct val="120000"/>
              </a:lnSpc>
              <a:spcBef>
                <a:spcPts val="4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Tư duy dài hạn, tài chính vững</a:t>
            </a:r>
            <a:endParaRPr/>
          </a:p>
          <a:p>
            <a:pPr indent="0" lvl="0" marL="0" marR="0" rtl="0" algn="l">
              <a:lnSpc>
                <a:spcPct val="120000"/>
              </a:lnSpc>
              <a:spcBef>
                <a:spcPts val="4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Cần chuyên viên đồng hành tư vấn chu đáo</a:t>
            </a:r>
            <a:endParaRPr/>
          </a:p>
        </p:txBody>
      </p:sp>
      <p:sp>
        <p:nvSpPr>
          <p:cNvPr id="173" name="Google Shape;173;p4"/>
          <p:cNvSpPr/>
          <p:nvPr/>
        </p:nvSpPr>
        <p:spPr>
          <a:xfrm>
            <a:off x="8125968" y="1691640"/>
            <a:ext cx="3514344" cy="43434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 name="Google Shape;174;p4"/>
          <p:cNvSpPr txBox="1"/>
          <p:nvPr/>
        </p:nvSpPr>
        <p:spPr>
          <a:xfrm>
            <a:off x="8308848" y="1783080"/>
            <a:ext cx="109728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C5A55A"/>
                </a:solidFill>
                <a:latin typeface="Montserrat"/>
                <a:ea typeface="Montserrat"/>
                <a:cs typeface="Montserrat"/>
                <a:sym typeface="Montserrat"/>
              </a:rPr>
              <a:t>03</a:t>
            </a:r>
            <a:endParaRPr/>
          </a:p>
        </p:txBody>
      </p:sp>
      <p:sp>
        <p:nvSpPr>
          <p:cNvPr id="175" name="Google Shape;175;p4"/>
          <p:cNvSpPr txBox="1"/>
          <p:nvPr/>
        </p:nvSpPr>
        <p:spPr>
          <a:xfrm>
            <a:off x="8308848" y="2514600"/>
            <a:ext cx="3148584"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A3530"/>
                </a:solidFill>
                <a:latin typeface="Montserrat"/>
                <a:ea typeface="Montserrat"/>
                <a:cs typeface="Montserrat"/>
                <a:sym typeface="Montserrat"/>
              </a:rPr>
              <a:t>KHÁCH HÀNG ĐÃ YÊU THÍCH BLACKSTONES</a:t>
            </a:r>
            <a:endParaRPr/>
          </a:p>
        </p:txBody>
      </p:sp>
      <p:cxnSp>
        <p:nvCxnSpPr>
          <p:cNvPr id="176" name="Google Shape;176;p4"/>
          <p:cNvCxnSpPr/>
          <p:nvPr/>
        </p:nvCxnSpPr>
        <p:spPr>
          <a:xfrm>
            <a:off x="0" y="3154680"/>
            <a:ext cx="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177" name="Google Shape;177;p4"/>
          <p:cNvSpPr txBox="1"/>
          <p:nvPr/>
        </p:nvSpPr>
        <p:spPr>
          <a:xfrm>
            <a:off x="8308848" y="3291840"/>
            <a:ext cx="3148584" cy="265176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Khách viếng đám đã trải nghiệm dịch vụ</a:t>
            </a:r>
            <a:endParaRPr/>
          </a:p>
          <a:p>
            <a:pPr indent="0" lvl="0" marL="0" marR="0" rtl="0" algn="l">
              <a:lnSpc>
                <a:spcPct val="120000"/>
              </a:lnSpc>
              <a:spcBef>
                <a:spcPts val="4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Người theo dõi các kênh truyền thông</a:t>
            </a:r>
            <a:endParaRPr/>
          </a:p>
          <a:p>
            <a:pPr indent="0" lvl="0" marL="0" marR="0" rtl="0" algn="l">
              <a:lnSpc>
                <a:spcPct val="120000"/>
              </a:lnSpc>
              <a:spcBef>
                <a:spcPts val="4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Chưa có nhu cầu gần nhưng tin tưởng thương hiệu</a:t>
            </a:r>
            <a:endParaRPr/>
          </a:p>
          <a:p>
            <a:pPr indent="0" lvl="0" marL="0" marR="0" rtl="0" algn="l">
              <a:lnSpc>
                <a:spcPct val="120000"/>
              </a:lnSpc>
              <a:spcBef>
                <a:spcPts val="4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Có thể trở thành khách hàng giới thiệu (referral)</a:t>
            </a:r>
            <a:endParaRPr/>
          </a:p>
        </p:txBody>
      </p:sp>
      <p:sp>
        <p:nvSpPr>
          <p:cNvPr id="178" name="Google Shape;178;p4"/>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4"/>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Ba chân dung khách hàng – cùng hướng về một insight: 'chuẩn bị sớm để an lòng'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5"/>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 name="Google Shape;185;p5"/>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186" name="Google Shape;186;p5"/>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GÓI HỘI VIÊN TRĂM TUỔI</a:t>
            </a:r>
            <a:endParaRPr/>
          </a:p>
        </p:txBody>
      </p:sp>
      <p:sp>
        <p:nvSpPr>
          <p:cNvPr id="187" name="Google Shape;187;p5"/>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Cấu trúc sản phẩm và đặc quyền chính</a:t>
            </a:r>
            <a:endParaRPr/>
          </a:p>
        </p:txBody>
      </p:sp>
      <p:cxnSp>
        <p:nvCxnSpPr>
          <p:cNvPr id="188" name="Google Shape;188;p5"/>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189" name="Google Shape;189;p5"/>
          <p:cNvSpPr/>
          <p:nvPr/>
        </p:nvSpPr>
        <p:spPr>
          <a:xfrm>
            <a:off x="1165860" y="1714500"/>
            <a:ext cx="1234440" cy="123444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2 TR</a:t>
            </a:r>
            <a:endParaRPr/>
          </a:p>
        </p:txBody>
      </p:sp>
      <p:sp>
        <p:nvSpPr>
          <p:cNvPr id="190" name="Google Shape;190;p5"/>
          <p:cNvSpPr txBox="1"/>
          <p:nvPr/>
        </p:nvSpPr>
        <p:spPr>
          <a:xfrm>
            <a:off x="891540" y="2994660"/>
            <a:ext cx="1783080" cy="320040"/>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Phí tham gia / 10 năm</a:t>
            </a:r>
            <a:endParaRPr/>
          </a:p>
        </p:txBody>
      </p:sp>
      <p:sp>
        <p:nvSpPr>
          <p:cNvPr id="191" name="Google Shape;191;p5"/>
          <p:cNvSpPr/>
          <p:nvPr/>
        </p:nvSpPr>
        <p:spPr>
          <a:xfrm>
            <a:off x="3543300" y="1714500"/>
            <a:ext cx="1234440" cy="123444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10</a:t>
            </a:r>
            <a:endParaRPr/>
          </a:p>
        </p:txBody>
      </p:sp>
      <p:sp>
        <p:nvSpPr>
          <p:cNvPr id="192" name="Google Shape;192;p5"/>
          <p:cNvSpPr txBox="1"/>
          <p:nvPr/>
        </p:nvSpPr>
        <p:spPr>
          <a:xfrm>
            <a:off x="3268980" y="2994660"/>
            <a:ext cx="1783080" cy="320040"/>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Năm quyền lợi</a:t>
            </a:r>
            <a:endParaRPr/>
          </a:p>
        </p:txBody>
      </p:sp>
      <p:sp>
        <p:nvSpPr>
          <p:cNvPr id="193" name="Google Shape;193;p5"/>
          <p:cNvSpPr/>
          <p:nvPr/>
        </p:nvSpPr>
        <p:spPr>
          <a:xfrm>
            <a:off x="5920740" y="1714500"/>
            <a:ext cx="1234440" cy="123444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02</a:t>
            </a:r>
            <a:endParaRPr/>
          </a:p>
        </p:txBody>
      </p:sp>
      <p:sp>
        <p:nvSpPr>
          <p:cNvPr id="194" name="Google Shape;194;p5"/>
          <p:cNvSpPr txBox="1"/>
          <p:nvPr/>
        </p:nvSpPr>
        <p:spPr>
          <a:xfrm>
            <a:off x="5646420" y="2994660"/>
            <a:ext cx="1783080" cy="320040"/>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Đối tượng thụ hưởng</a:t>
            </a:r>
            <a:endParaRPr/>
          </a:p>
        </p:txBody>
      </p:sp>
      <p:sp>
        <p:nvSpPr>
          <p:cNvPr id="195" name="Google Shape;195;p5"/>
          <p:cNvSpPr/>
          <p:nvPr/>
        </p:nvSpPr>
        <p:spPr>
          <a:xfrm>
            <a:off x="8298180" y="1714500"/>
            <a:ext cx="1234440" cy="123444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24/7</a:t>
            </a:r>
            <a:endParaRPr/>
          </a:p>
        </p:txBody>
      </p:sp>
      <p:sp>
        <p:nvSpPr>
          <p:cNvPr id="196" name="Google Shape;196;p5"/>
          <p:cNvSpPr txBox="1"/>
          <p:nvPr/>
        </p:nvSpPr>
        <p:spPr>
          <a:xfrm>
            <a:off x="8503749" y="2994660"/>
            <a:ext cx="823302" cy="184666"/>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Tổng Đài hỗ trợ</a:t>
            </a:r>
            <a:endParaRPr sz="900">
              <a:solidFill>
                <a:srgbClr val="5A5040"/>
              </a:solidFill>
              <a:latin typeface="Calibri"/>
              <a:ea typeface="Calibri"/>
              <a:cs typeface="Calibri"/>
              <a:sym typeface="Calibri"/>
            </a:endParaRPr>
          </a:p>
        </p:txBody>
      </p:sp>
      <p:sp>
        <p:nvSpPr>
          <p:cNvPr id="197" name="Google Shape;197;p5"/>
          <p:cNvSpPr/>
          <p:nvPr/>
        </p:nvSpPr>
        <p:spPr>
          <a:xfrm>
            <a:off x="548640" y="3749039"/>
            <a:ext cx="5440680" cy="2468880"/>
          </a:xfrm>
          <a:prstGeom prst="roundRect">
            <a:avLst>
              <a:gd fmla="val 8000" name="adj"/>
            </a:avLst>
          </a:prstGeom>
          <a:solidFill>
            <a:srgbClr val="F5F0EB"/>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5"/>
          <p:cNvSpPr/>
          <p:nvPr/>
        </p:nvSpPr>
        <p:spPr>
          <a:xfrm>
            <a:off x="548640" y="3749039"/>
            <a:ext cx="5440680" cy="384048"/>
          </a:xfrm>
          <a:prstGeom prst="roundRect">
            <a:avLst>
              <a:gd fmla="val 12000" name="adj"/>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5"/>
          <p:cNvSpPr txBox="1"/>
          <p:nvPr/>
        </p:nvSpPr>
        <p:spPr>
          <a:xfrm>
            <a:off x="685800" y="3794759"/>
            <a:ext cx="5166360" cy="384048"/>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QUYỀN LỢI TÂM AN – TRỌN VẸN</a:t>
            </a:r>
            <a:endParaRPr/>
          </a:p>
        </p:txBody>
      </p:sp>
      <p:sp>
        <p:nvSpPr>
          <p:cNvPr id="200" name="Google Shape;200;p5"/>
          <p:cNvSpPr txBox="1"/>
          <p:nvPr/>
        </p:nvSpPr>
        <p:spPr>
          <a:xfrm>
            <a:off x="685800" y="4206239"/>
            <a:ext cx="5166360" cy="769378"/>
          </a:xfrm>
          <a:prstGeom prst="rect">
            <a:avLst/>
          </a:prstGeom>
          <a:noFill/>
          <a:ln>
            <a:noFill/>
          </a:ln>
        </p:spPr>
        <p:txBody>
          <a:bodyPr anchorCtr="0" anchor="t" bIns="45700" lIns="0" spcFirstLastPara="1" rIns="91425" wrap="square" tIns="0">
            <a:spAutoFit/>
          </a:bodyPr>
          <a:lstStyle/>
          <a:p>
            <a:pPr indent="0" lvl="0" marL="0" marR="0" rtl="0" algn="l">
              <a:lnSpc>
                <a:spcPct val="112000"/>
              </a:lnSpc>
              <a:spcBef>
                <a:spcPts val="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Tư vấn Kế hoạch tang lễ: nơi tổ chức, nghi lễ, tôn giáo, hạng mục, ngân sách → lưu trữ</a:t>
            </a:r>
            <a:endParaRPr sz="950">
              <a:solidFill>
                <a:srgbClr val="3A3530"/>
              </a:solidFill>
              <a:latin typeface="Calibri"/>
              <a:ea typeface="Calibri"/>
              <a:cs typeface="Calibri"/>
              <a:sym typeface="Calibri"/>
            </a:endParaRPr>
          </a:p>
          <a:p>
            <a:pPr indent="0" lvl="0" marL="0" marR="0" rtl="0" algn="l">
              <a:lnSpc>
                <a:spcPct val="112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Tư vấn y tế, chăm sóc giảm nhẹ cuối đời</a:t>
            </a:r>
            <a:endParaRPr sz="950">
              <a:solidFill>
                <a:srgbClr val="3A3530"/>
              </a:solidFill>
              <a:latin typeface="Calibri"/>
              <a:ea typeface="Calibri"/>
              <a:cs typeface="Calibri"/>
              <a:sym typeface="Calibri"/>
            </a:endParaRPr>
          </a:p>
          <a:p>
            <a:pPr indent="0" lvl="0" marL="0" marR="0" rtl="0" algn="l">
              <a:lnSpc>
                <a:spcPct val="112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Tư vấn lựa chọn nơi an nghỉ (hoa viên, hộc lưu cốt)</a:t>
            </a:r>
            <a:endParaRPr/>
          </a:p>
          <a:p>
            <a:pPr indent="0" lvl="0" marL="0" marR="0" rtl="0" algn="l">
              <a:lnSpc>
                <a:spcPct val="112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Hotline 24/7 – Công ty ưu tiên nguồn lực hỗ trợ gia đình thành viên</a:t>
            </a:r>
            <a:endParaRPr sz="950">
              <a:solidFill>
                <a:srgbClr val="3A3530"/>
              </a:solidFill>
              <a:latin typeface="Calibri"/>
              <a:ea typeface="Calibri"/>
              <a:cs typeface="Calibri"/>
              <a:sym typeface="Calibri"/>
            </a:endParaRPr>
          </a:p>
        </p:txBody>
      </p:sp>
      <p:sp>
        <p:nvSpPr>
          <p:cNvPr id="201" name="Google Shape;201;p5"/>
          <p:cNvSpPr/>
          <p:nvPr/>
        </p:nvSpPr>
        <p:spPr>
          <a:xfrm>
            <a:off x="6199632" y="3749039"/>
            <a:ext cx="5440680" cy="2468880"/>
          </a:xfrm>
          <a:prstGeom prst="roundRect">
            <a:avLst>
              <a:gd fmla="val 8000" name="adj"/>
            </a:avLst>
          </a:prstGeom>
          <a:solidFill>
            <a:srgbClr val="F5F0EB"/>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5"/>
          <p:cNvSpPr/>
          <p:nvPr/>
        </p:nvSpPr>
        <p:spPr>
          <a:xfrm>
            <a:off x="6199632" y="3749039"/>
            <a:ext cx="5440680" cy="384048"/>
          </a:xfrm>
          <a:prstGeom prst="roundRect">
            <a:avLst>
              <a:gd fmla="val 12000" name="adj"/>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5"/>
          <p:cNvSpPr txBox="1"/>
          <p:nvPr/>
        </p:nvSpPr>
        <p:spPr>
          <a:xfrm>
            <a:off x="6336792" y="3794759"/>
            <a:ext cx="5166360" cy="384048"/>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QUYỀN LỢI TIẾT KIỆM</a:t>
            </a:r>
            <a:endParaRPr/>
          </a:p>
        </p:txBody>
      </p:sp>
      <p:sp>
        <p:nvSpPr>
          <p:cNvPr id="204" name="Google Shape;204;p5"/>
          <p:cNvSpPr txBox="1"/>
          <p:nvPr/>
        </p:nvSpPr>
        <p:spPr>
          <a:xfrm>
            <a:off x="6336792" y="4206239"/>
            <a:ext cx="5166360" cy="1947672"/>
          </a:xfrm>
          <a:prstGeom prst="rect">
            <a:avLst/>
          </a:prstGeom>
          <a:noFill/>
          <a:ln>
            <a:noFill/>
          </a:ln>
        </p:spPr>
        <p:txBody>
          <a:bodyPr anchorCtr="0" anchor="t" bIns="45700" lIns="0" spcFirstLastPara="1" rIns="91425" wrap="square" tIns="0">
            <a:spAutoFit/>
          </a:bodyPr>
          <a:lstStyle/>
          <a:p>
            <a:pPr indent="0" lvl="0" marL="0" marR="0" rtl="0" algn="l">
              <a:lnSpc>
                <a:spcPct val="112000"/>
              </a:lnSpc>
              <a:spcBef>
                <a:spcPts val="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2 triệu phí hội viên được trừ trực tiếp vào đơn hàng DVTL</a:t>
            </a:r>
            <a:endParaRPr/>
          </a:p>
          <a:p>
            <a:pPr indent="0" lvl="0" marL="0" marR="0" rtl="0" algn="l">
              <a:lnSpc>
                <a:spcPct val="112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Chiết khấu DVTL theo thời gian tham gia: 0% / 5% / 7% / 10%</a:t>
            </a:r>
            <a:endParaRPr/>
          </a:p>
          <a:p>
            <a:pPr indent="0" lvl="0" marL="0" marR="0" rtl="0" algn="l">
              <a:lnSpc>
                <a:spcPct val="112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Sala Garden: giảm 4 triệu/mộ – Hộc lưu cốt: giảm 10% giá trị</a:t>
            </a:r>
            <a:endParaRPr/>
          </a:p>
          <a:p>
            <a:pPr indent="0" lvl="0" marL="0" marR="0" rtl="0" algn="l">
              <a:lnSpc>
                <a:spcPct val="112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Ưu đãi Kim Care 15%: điều dưỡng, oxy, giường bệnh, xe cấp cứu</a:t>
            </a:r>
            <a:endParaRPr/>
          </a:p>
        </p:txBody>
      </p:sp>
      <p:sp>
        <p:nvSpPr>
          <p:cNvPr id="205" name="Google Shape;205;p5"/>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5"/>
          <p:cNvSpPr txBox="1"/>
          <p:nvPr/>
        </p:nvSpPr>
        <p:spPr>
          <a:xfrm>
            <a:off x="2694646" y="6263640"/>
            <a:ext cx="6863674"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Mỗi đồng phí hội viên đều được cấn trừ vào đơn hàng – khách hàng chỉ được lợi, không mất gì</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6"/>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6"/>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213" name="Google Shape;213;p6"/>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BIỂU CHIẾT KHẤU QUYỀN LỢI TIẾT KIỆM</a:t>
            </a:r>
            <a:endParaRPr/>
          </a:p>
        </p:txBody>
      </p:sp>
      <p:sp>
        <p:nvSpPr>
          <p:cNvPr id="214" name="Google Shape;214;p6"/>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Chiết khấu tăng dần theo thời gian gắn bó</a:t>
            </a:r>
            <a:endParaRPr/>
          </a:p>
        </p:txBody>
      </p:sp>
      <p:cxnSp>
        <p:nvCxnSpPr>
          <p:cNvPr id="215" name="Google Shape;215;p6"/>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216" name="Google Shape;216;p6"/>
          <p:cNvSpPr/>
          <p:nvPr/>
        </p:nvSpPr>
        <p:spPr>
          <a:xfrm>
            <a:off x="548640" y="1691640"/>
            <a:ext cx="3291840" cy="502920"/>
          </a:xfrm>
          <a:prstGeom prst="rect">
            <a:avLst/>
          </a:prstGeom>
          <a:solidFill>
            <a:srgbClr val="3A3530"/>
          </a:solidFill>
          <a:ln cap="flat" cmpd="sng" w="9525">
            <a:solidFill>
              <a:srgbClr val="3A3530"/>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b="1" lang="en-US" sz="1100">
                <a:solidFill>
                  <a:srgbClr val="C5A55A"/>
                </a:solidFill>
                <a:latin typeface="Montserrat"/>
                <a:ea typeface="Montserrat"/>
                <a:cs typeface="Montserrat"/>
                <a:sym typeface="Montserrat"/>
              </a:rPr>
              <a:t>Thời gian tham gia</a:t>
            </a:r>
            <a:endParaRPr/>
          </a:p>
        </p:txBody>
      </p:sp>
      <p:sp>
        <p:nvSpPr>
          <p:cNvPr id="217" name="Google Shape;217;p6"/>
          <p:cNvSpPr/>
          <p:nvPr/>
        </p:nvSpPr>
        <p:spPr>
          <a:xfrm>
            <a:off x="3840480" y="1691640"/>
            <a:ext cx="2743200" cy="502920"/>
          </a:xfrm>
          <a:prstGeom prst="rect">
            <a:avLst/>
          </a:prstGeom>
          <a:solidFill>
            <a:srgbClr val="3A3530"/>
          </a:solidFill>
          <a:ln cap="flat" cmpd="sng" w="9525">
            <a:solidFill>
              <a:srgbClr val="3A3530"/>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b="1" lang="en-US" sz="1100">
                <a:solidFill>
                  <a:srgbClr val="C5A55A"/>
                </a:solidFill>
                <a:latin typeface="Montserrat"/>
                <a:ea typeface="Montserrat"/>
                <a:cs typeface="Montserrat"/>
                <a:sym typeface="Montserrat"/>
              </a:rPr>
              <a:t>Mức chiết khấu DVTL</a:t>
            </a:r>
            <a:endParaRPr/>
          </a:p>
        </p:txBody>
      </p:sp>
      <p:sp>
        <p:nvSpPr>
          <p:cNvPr id="218" name="Google Shape;218;p6"/>
          <p:cNvSpPr/>
          <p:nvPr/>
        </p:nvSpPr>
        <p:spPr>
          <a:xfrm>
            <a:off x="6583680" y="1691640"/>
            <a:ext cx="5056632" cy="502920"/>
          </a:xfrm>
          <a:prstGeom prst="rect">
            <a:avLst/>
          </a:prstGeom>
          <a:solidFill>
            <a:srgbClr val="3A3530"/>
          </a:solidFill>
          <a:ln cap="flat" cmpd="sng" w="9525">
            <a:solidFill>
              <a:srgbClr val="3A3530"/>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b="1" lang="en-US" sz="1100">
                <a:solidFill>
                  <a:srgbClr val="C5A55A"/>
                </a:solidFill>
                <a:latin typeface="Montserrat"/>
                <a:ea typeface="Montserrat"/>
                <a:cs typeface="Montserrat"/>
                <a:sym typeface="Montserrat"/>
              </a:rPr>
              <a:t>Ý nghĩa truyền thông</a:t>
            </a:r>
            <a:endParaRPr/>
          </a:p>
        </p:txBody>
      </p:sp>
      <p:sp>
        <p:nvSpPr>
          <p:cNvPr id="219" name="Google Shape;219;p6"/>
          <p:cNvSpPr/>
          <p:nvPr/>
        </p:nvSpPr>
        <p:spPr>
          <a:xfrm>
            <a:off x="548640" y="2194560"/>
            <a:ext cx="3291840" cy="502920"/>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lang="en-US" sz="1100">
                <a:solidFill>
                  <a:srgbClr val="3A3530"/>
                </a:solidFill>
                <a:latin typeface="Calibri"/>
                <a:ea typeface="Calibri"/>
                <a:cs typeface="Calibri"/>
                <a:sym typeface="Calibri"/>
              </a:rPr>
              <a:t>Dưới 60 ngày</a:t>
            </a:r>
            <a:endParaRPr/>
          </a:p>
        </p:txBody>
      </p:sp>
      <p:sp>
        <p:nvSpPr>
          <p:cNvPr id="220" name="Google Shape;220;p6"/>
          <p:cNvSpPr/>
          <p:nvPr/>
        </p:nvSpPr>
        <p:spPr>
          <a:xfrm>
            <a:off x="3840480" y="2194560"/>
            <a:ext cx="2743200" cy="502920"/>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b="1" lang="en-US" sz="1100">
                <a:solidFill>
                  <a:srgbClr val="C5A55A"/>
                </a:solidFill>
                <a:latin typeface="Calibri"/>
                <a:ea typeface="Calibri"/>
                <a:cs typeface="Calibri"/>
                <a:sym typeface="Calibri"/>
              </a:rPr>
              <a:t>0 %</a:t>
            </a:r>
            <a:endParaRPr/>
          </a:p>
        </p:txBody>
      </p:sp>
      <p:sp>
        <p:nvSpPr>
          <p:cNvPr id="221" name="Google Shape;221;p6"/>
          <p:cNvSpPr/>
          <p:nvPr/>
        </p:nvSpPr>
        <p:spPr>
          <a:xfrm>
            <a:off x="6583680" y="2194560"/>
            <a:ext cx="5056632" cy="502920"/>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lang="en-US" sz="1100">
                <a:solidFill>
                  <a:srgbClr val="3A3530"/>
                </a:solidFill>
                <a:latin typeface="Calibri"/>
                <a:ea typeface="Calibri"/>
                <a:cs typeface="Calibri"/>
                <a:sym typeface="Calibri"/>
              </a:rPr>
              <a:t>Giai đoạn bảo vệ – chống mua gấp khi có việc</a:t>
            </a:r>
            <a:endParaRPr/>
          </a:p>
        </p:txBody>
      </p:sp>
      <p:sp>
        <p:nvSpPr>
          <p:cNvPr id="222" name="Google Shape;222;p6"/>
          <p:cNvSpPr/>
          <p:nvPr/>
        </p:nvSpPr>
        <p:spPr>
          <a:xfrm>
            <a:off x="548640" y="2697480"/>
            <a:ext cx="3291840" cy="502920"/>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lang="en-US" sz="1100">
                <a:solidFill>
                  <a:srgbClr val="3A3530"/>
                </a:solidFill>
                <a:latin typeface="Calibri"/>
                <a:ea typeface="Calibri"/>
                <a:cs typeface="Calibri"/>
                <a:sym typeface="Calibri"/>
              </a:rPr>
              <a:t>Trên 60 ngày – dưới 1 năm</a:t>
            </a:r>
            <a:endParaRPr/>
          </a:p>
        </p:txBody>
      </p:sp>
      <p:sp>
        <p:nvSpPr>
          <p:cNvPr id="223" name="Google Shape;223;p6"/>
          <p:cNvSpPr/>
          <p:nvPr/>
        </p:nvSpPr>
        <p:spPr>
          <a:xfrm>
            <a:off x="3840480" y="2697480"/>
            <a:ext cx="2743200" cy="502920"/>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b="1" lang="en-US" sz="1100">
                <a:solidFill>
                  <a:srgbClr val="C5A55A"/>
                </a:solidFill>
                <a:latin typeface="Calibri"/>
                <a:ea typeface="Calibri"/>
                <a:cs typeface="Calibri"/>
                <a:sym typeface="Calibri"/>
              </a:rPr>
              <a:t>5 %</a:t>
            </a:r>
            <a:endParaRPr/>
          </a:p>
        </p:txBody>
      </p:sp>
      <p:sp>
        <p:nvSpPr>
          <p:cNvPr id="224" name="Google Shape;224;p6"/>
          <p:cNvSpPr/>
          <p:nvPr/>
        </p:nvSpPr>
        <p:spPr>
          <a:xfrm>
            <a:off x="6583680" y="2697480"/>
            <a:ext cx="5056632" cy="502920"/>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lang="en-US" sz="1100">
                <a:solidFill>
                  <a:srgbClr val="3A3530"/>
                </a:solidFill>
                <a:latin typeface="Calibri"/>
                <a:ea typeface="Calibri"/>
                <a:cs typeface="Calibri"/>
                <a:sym typeface="Calibri"/>
              </a:rPr>
              <a:t>Khách hàng sớm – khởi đầu cam kết</a:t>
            </a:r>
            <a:endParaRPr/>
          </a:p>
        </p:txBody>
      </p:sp>
      <p:sp>
        <p:nvSpPr>
          <p:cNvPr id="225" name="Google Shape;225;p6"/>
          <p:cNvSpPr/>
          <p:nvPr/>
        </p:nvSpPr>
        <p:spPr>
          <a:xfrm>
            <a:off x="548640" y="3200400"/>
            <a:ext cx="3291840" cy="502920"/>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lang="en-US" sz="1100">
                <a:solidFill>
                  <a:srgbClr val="3A3530"/>
                </a:solidFill>
                <a:latin typeface="Calibri"/>
                <a:ea typeface="Calibri"/>
                <a:cs typeface="Calibri"/>
                <a:sym typeface="Calibri"/>
              </a:rPr>
              <a:t>Trên 1 năm – dưới 3 năm</a:t>
            </a:r>
            <a:endParaRPr/>
          </a:p>
        </p:txBody>
      </p:sp>
      <p:sp>
        <p:nvSpPr>
          <p:cNvPr id="226" name="Google Shape;226;p6"/>
          <p:cNvSpPr/>
          <p:nvPr/>
        </p:nvSpPr>
        <p:spPr>
          <a:xfrm>
            <a:off x="3840480" y="3200400"/>
            <a:ext cx="2743200" cy="502920"/>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b="1" lang="en-US" sz="1100">
                <a:solidFill>
                  <a:srgbClr val="C5A55A"/>
                </a:solidFill>
                <a:latin typeface="Calibri"/>
                <a:ea typeface="Calibri"/>
                <a:cs typeface="Calibri"/>
                <a:sym typeface="Calibri"/>
              </a:rPr>
              <a:t>7 %</a:t>
            </a:r>
            <a:endParaRPr/>
          </a:p>
        </p:txBody>
      </p:sp>
      <p:sp>
        <p:nvSpPr>
          <p:cNvPr id="227" name="Google Shape;227;p6"/>
          <p:cNvSpPr/>
          <p:nvPr/>
        </p:nvSpPr>
        <p:spPr>
          <a:xfrm>
            <a:off x="6583680" y="3200400"/>
            <a:ext cx="5056632" cy="502920"/>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lang="en-US" sz="1100">
                <a:solidFill>
                  <a:srgbClr val="3A3530"/>
                </a:solidFill>
                <a:latin typeface="Calibri"/>
                <a:ea typeface="Calibri"/>
                <a:cs typeface="Calibri"/>
                <a:sym typeface="Calibri"/>
              </a:rPr>
              <a:t>Khách hàng trung thành – gắn bó</a:t>
            </a:r>
            <a:endParaRPr/>
          </a:p>
        </p:txBody>
      </p:sp>
      <p:sp>
        <p:nvSpPr>
          <p:cNvPr id="228" name="Google Shape;228;p6"/>
          <p:cNvSpPr/>
          <p:nvPr/>
        </p:nvSpPr>
        <p:spPr>
          <a:xfrm>
            <a:off x="548640" y="3703320"/>
            <a:ext cx="3291840" cy="502920"/>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lang="en-US" sz="1100">
                <a:solidFill>
                  <a:srgbClr val="3A3530"/>
                </a:solidFill>
                <a:latin typeface="Calibri"/>
                <a:ea typeface="Calibri"/>
                <a:cs typeface="Calibri"/>
                <a:sym typeface="Calibri"/>
              </a:rPr>
              <a:t>Trên 3 năm</a:t>
            </a:r>
            <a:endParaRPr/>
          </a:p>
        </p:txBody>
      </p:sp>
      <p:sp>
        <p:nvSpPr>
          <p:cNvPr id="229" name="Google Shape;229;p6"/>
          <p:cNvSpPr/>
          <p:nvPr/>
        </p:nvSpPr>
        <p:spPr>
          <a:xfrm>
            <a:off x="3840480" y="3703320"/>
            <a:ext cx="2743200" cy="502920"/>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b="1" lang="en-US" sz="1100">
                <a:solidFill>
                  <a:srgbClr val="C5A55A"/>
                </a:solidFill>
                <a:latin typeface="Calibri"/>
                <a:ea typeface="Calibri"/>
                <a:cs typeface="Calibri"/>
                <a:sym typeface="Calibri"/>
              </a:rPr>
              <a:t>10 %</a:t>
            </a:r>
            <a:endParaRPr/>
          </a:p>
        </p:txBody>
      </p:sp>
      <p:sp>
        <p:nvSpPr>
          <p:cNvPr id="230" name="Google Shape;230;p6"/>
          <p:cNvSpPr/>
          <p:nvPr/>
        </p:nvSpPr>
        <p:spPr>
          <a:xfrm>
            <a:off x="6583680" y="3703320"/>
            <a:ext cx="5056632" cy="502920"/>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137150" spcFirstLastPara="1" rIns="91425" wrap="square" tIns="45700">
            <a:noAutofit/>
          </a:bodyPr>
          <a:lstStyle/>
          <a:p>
            <a:pPr indent="0" lvl="0" marL="0" marR="0" rtl="0" algn="ctr">
              <a:spcBef>
                <a:spcPts val="0"/>
              </a:spcBef>
              <a:spcAft>
                <a:spcPts val="0"/>
              </a:spcAft>
              <a:buNone/>
            </a:pPr>
            <a:r>
              <a:rPr lang="en-US" sz="1100">
                <a:solidFill>
                  <a:srgbClr val="3A3530"/>
                </a:solidFill>
                <a:latin typeface="Calibri"/>
                <a:ea typeface="Calibri"/>
                <a:cs typeface="Calibri"/>
                <a:sym typeface="Calibri"/>
              </a:rPr>
              <a:t>Hội viên lâu năm – chiết khấu tối đa</a:t>
            </a:r>
            <a:endParaRPr/>
          </a:p>
        </p:txBody>
      </p:sp>
      <p:sp>
        <p:nvSpPr>
          <p:cNvPr id="231" name="Google Shape;231;p6"/>
          <p:cNvSpPr/>
          <p:nvPr/>
        </p:nvSpPr>
        <p:spPr>
          <a:xfrm>
            <a:off x="548640" y="4754880"/>
            <a:ext cx="11091672" cy="1371600"/>
          </a:xfrm>
          <a:prstGeom prst="roundRect">
            <a:avLst>
              <a:gd fmla="val 8000" name="adj"/>
            </a:avLst>
          </a:prstGeom>
          <a:solidFill>
            <a:srgbClr val="F5F0EB"/>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 name="Google Shape;232;p6"/>
          <p:cNvSpPr txBox="1"/>
          <p:nvPr/>
        </p:nvSpPr>
        <p:spPr>
          <a:xfrm>
            <a:off x="777240" y="4846320"/>
            <a:ext cx="10607040" cy="365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ƯU ĐÃI CỘNG THÊM (áp dụng trực tiếp vào đơn DVTL)</a:t>
            </a:r>
            <a:endParaRPr/>
          </a:p>
        </p:txBody>
      </p:sp>
      <p:sp>
        <p:nvSpPr>
          <p:cNvPr id="233" name="Google Shape;233;p6"/>
          <p:cNvSpPr txBox="1"/>
          <p:nvPr/>
        </p:nvSpPr>
        <p:spPr>
          <a:xfrm>
            <a:off x="777240" y="5212080"/>
            <a:ext cx="10607040" cy="743537"/>
          </a:xfrm>
          <a:prstGeom prst="rect">
            <a:avLst/>
          </a:prstGeom>
          <a:noFill/>
          <a:ln>
            <a:noFill/>
          </a:ln>
        </p:spPr>
        <p:txBody>
          <a:bodyPr anchorCtr="0" anchor="t" bIns="45700" lIns="73150" spcFirstLastPara="1" rIns="91425" wrap="square" tIns="73150">
            <a:spAutoFit/>
          </a:bodyPr>
          <a:lstStyle/>
          <a:p>
            <a:pPr indent="0" lvl="0" marL="0" marR="0" rtl="0" algn="l">
              <a:lnSpc>
                <a:spcPct val="115000"/>
              </a:lnSpc>
              <a:spcBef>
                <a:spcPts val="0"/>
              </a:spcBef>
              <a:spcAft>
                <a:spcPts val="0"/>
              </a:spcAft>
              <a:buNone/>
            </a:pPr>
            <a:r>
              <a:rPr b="1" lang="en-US" sz="1050">
                <a:solidFill>
                  <a:srgbClr val="FF0000"/>
                </a:solidFill>
                <a:latin typeface="Calibri"/>
                <a:ea typeface="Calibri"/>
                <a:cs typeface="Calibri"/>
                <a:sym typeface="Calibri"/>
              </a:rPr>
              <a:t>▪  </a:t>
            </a:r>
            <a:r>
              <a:rPr lang="en-US" sz="1050">
                <a:solidFill>
                  <a:srgbClr val="FF0000"/>
                </a:solidFill>
                <a:latin typeface="Calibri"/>
                <a:ea typeface="Calibri"/>
                <a:cs typeface="Calibri"/>
                <a:sym typeface="Calibri"/>
              </a:rPr>
              <a:t>Sala Garden: </a:t>
            </a:r>
            <a:r>
              <a:rPr b="1" lang="en-US" sz="1050">
                <a:solidFill>
                  <a:srgbClr val="FF0000"/>
                </a:solidFill>
                <a:latin typeface="Calibri"/>
                <a:ea typeface="Calibri"/>
                <a:cs typeface="Calibri"/>
                <a:sym typeface="Calibri"/>
              </a:rPr>
              <a:t>giảm 2.000.000 đ / mộ</a:t>
            </a:r>
            <a:endParaRPr b="1" sz="1050">
              <a:solidFill>
                <a:srgbClr val="FF0000"/>
              </a:solidFill>
              <a:latin typeface="Calibri"/>
              <a:ea typeface="Calibri"/>
              <a:cs typeface="Calibri"/>
              <a:sym typeface="Calibri"/>
            </a:endParaRPr>
          </a:p>
          <a:p>
            <a:pPr indent="0" lvl="0" marL="0" marR="0" rtl="0" algn="l">
              <a:lnSpc>
                <a:spcPct val="115000"/>
              </a:lnSpc>
              <a:spcBef>
                <a:spcPts val="300"/>
              </a:spcBef>
              <a:spcAft>
                <a:spcPts val="0"/>
              </a:spcAft>
              <a:buNone/>
            </a:pPr>
            <a:r>
              <a:rPr b="1" lang="en-US" sz="1050">
                <a:solidFill>
                  <a:srgbClr val="FF0000"/>
                </a:solidFill>
                <a:latin typeface="Calibri"/>
                <a:ea typeface="Calibri"/>
                <a:cs typeface="Calibri"/>
                <a:sym typeface="Calibri"/>
              </a:rPr>
              <a:t>▪  </a:t>
            </a:r>
            <a:r>
              <a:rPr lang="en-US" sz="1050">
                <a:solidFill>
                  <a:srgbClr val="FF0000"/>
                </a:solidFill>
                <a:latin typeface="Calibri"/>
                <a:ea typeface="Calibri"/>
                <a:cs typeface="Calibri"/>
                <a:sym typeface="Calibri"/>
              </a:rPr>
              <a:t>Hộc lưu tro cốt: </a:t>
            </a:r>
            <a:r>
              <a:rPr b="1" lang="en-US" sz="1050">
                <a:solidFill>
                  <a:srgbClr val="FF0000"/>
                </a:solidFill>
                <a:latin typeface="Calibri"/>
                <a:ea typeface="Calibri"/>
                <a:cs typeface="Calibri"/>
                <a:sym typeface="Calibri"/>
              </a:rPr>
              <a:t>giảm 10 % giá trị hộc lưu</a:t>
            </a:r>
            <a:endParaRPr b="1" sz="1050">
              <a:solidFill>
                <a:srgbClr val="FF0000"/>
              </a:solidFill>
              <a:latin typeface="Calibri"/>
              <a:ea typeface="Calibri"/>
              <a:cs typeface="Calibri"/>
              <a:sym typeface="Calibri"/>
            </a:endParaRPr>
          </a:p>
          <a:p>
            <a:pPr indent="0" lvl="0" marL="0" marR="0" rtl="0" algn="l">
              <a:lnSpc>
                <a:spcPct val="115000"/>
              </a:lnSpc>
              <a:spcBef>
                <a:spcPts val="300"/>
              </a:spcBef>
              <a:spcAft>
                <a:spcPts val="0"/>
              </a:spcAft>
              <a:buNone/>
            </a:pPr>
            <a:r>
              <a:rPr b="1" lang="en-US" sz="1050">
                <a:solidFill>
                  <a:srgbClr val="FF0000"/>
                </a:solidFill>
                <a:latin typeface="Calibri"/>
                <a:ea typeface="Calibri"/>
                <a:cs typeface="Calibri"/>
                <a:sym typeface="Calibri"/>
              </a:rPr>
              <a:t>▪  </a:t>
            </a:r>
            <a:r>
              <a:rPr lang="en-US" sz="1050">
                <a:solidFill>
                  <a:srgbClr val="FF0000"/>
                </a:solidFill>
                <a:latin typeface="Calibri"/>
                <a:ea typeface="Calibri"/>
                <a:cs typeface="Calibri"/>
                <a:sym typeface="Calibri"/>
              </a:rPr>
              <a:t>Dịch vụ y tế Kim Care: </a:t>
            </a:r>
            <a:r>
              <a:rPr b="1" lang="en-US" sz="1050">
                <a:solidFill>
                  <a:srgbClr val="FF0000"/>
                </a:solidFill>
                <a:latin typeface="Calibri"/>
                <a:ea typeface="Calibri"/>
                <a:cs typeface="Calibri"/>
                <a:sym typeface="Calibri"/>
              </a:rPr>
              <a:t>giảm 05 % (điều dưỡng, oxy, giường bệnh, xe cấp cứu)</a:t>
            </a:r>
            <a:endParaRPr/>
          </a:p>
        </p:txBody>
      </p:sp>
      <p:sp>
        <p:nvSpPr>
          <p:cNvPr id="234" name="Google Shape;234;p6"/>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6"/>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Chiết khấu tăng dần là công cụ giữ chân khách hàng trong suốt 10 năm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7"/>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1" name="Google Shape;241;p7"/>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242" name="Google Shape;242;p7"/>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ĐIỀU KIỆN ÁP DỤNG</a:t>
            </a:r>
            <a:endParaRPr/>
          </a:p>
        </p:txBody>
      </p:sp>
      <p:sp>
        <p:nvSpPr>
          <p:cNvPr id="243" name="Google Shape;243;p7"/>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Nguyên tắc sử dụng và gia hạn quyền lợi hội viên</a:t>
            </a:r>
            <a:endParaRPr/>
          </a:p>
        </p:txBody>
      </p:sp>
      <p:cxnSp>
        <p:nvCxnSpPr>
          <p:cNvPr id="244" name="Google Shape;244;p7"/>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245" name="Google Shape;245;p7"/>
          <p:cNvSpPr/>
          <p:nvPr/>
        </p:nvSpPr>
        <p:spPr>
          <a:xfrm>
            <a:off x="548640" y="1691640"/>
            <a:ext cx="5431536" cy="20574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 name="Google Shape;246;p7"/>
          <p:cNvSpPr txBox="1"/>
          <p:nvPr/>
        </p:nvSpPr>
        <p:spPr>
          <a:xfrm>
            <a:off x="685800" y="1828800"/>
            <a:ext cx="5157216"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200">
                <a:solidFill>
                  <a:srgbClr val="C5A55A"/>
                </a:solidFill>
                <a:latin typeface="Montserrat"/>
                <a:ea typeface="Montserrat"/>
                <a:cs typeface="Montserrat"/>
                <a:sym typeface="Montserrat"/>
              </a:rPr>
              <a:t>ĐỐI TƯỢNG THỤ HƯỞNG</a:t>
            </a:r>
            <a:endParaRPr/>
          </a:p>
        </p:txBody>
      </p:sp>
      <p:sp>
        <p:nvSpPr>
          <p:cNvPr id="247" name="Google Shape;247;p7"/>
          <p:cNvSpPr txBox="1"/>
          <p:nvPr/>
        </p:nvSpPr>
        <p:spPr>
          <a:xfrm>
            <a:off x="685800" y="2240280"/>
            <a:ext cx="5157216" cy="1371600"/>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Mỗi hội viên đăng ký tối đa 02 đối tượng thụ hưởng</a:t>
            </a:r>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Đối tượng thụ hưởng là chủ thể sử dụng Dịch vụ tang lễ</a:t>
            </a:r>
            <a:endParaRPr/>
          </a:p>
        </p:txBody>
      </p:sp>
      <p:sp>
        <p:nvSpPr>
          <p:cNvPr id="248" name="Google Shape;248;p7"/>
          <p:cNvSpPr/>
          <p:nvPr/>
        </p:nvSpPr>
        <p:spPr>
          <a:xfrm>
            <a:off x="6208776" y="1691640"/>
            <a:ext cx="5431536" cy="20574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 name="Google Shape;249;p7"/>
          <p:cNvSpPr txBox="1"/>
          <p:nvPr/>
        </p:nvSpPr>
        <p:spPr>
          <a:xfrm>
            <a:off x="6345936" y="1828800"/>
            <a:ext cx="5157216"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200">
                <a:solidFill>
                  <a:srgbClr val="C5A55A"/>
                </a:solidFill>
                <a:latin typeface="Montserrat"/>
                <a:ea typeface="Montserrat"/>
                <a:cs typeface="Montserrat"/>
                <a:sym typeface="Montserrat"/>
              </a:rPr>
              <a:t>PHẠM VI SỬ DỤNG</a:t>
            </a:r>
            <a:endParaRPr/>
          </a:p>
        </p:txBody>
      </p:sp>
      <p:sp>
        <p:nvSpPr>
          <p:cNvPr id="250" name="Google Shape;250;p7"/>
          <p:cNvSpPr txBox="1"/>
          <p:nvPr/>
        </p:nvSpPr>
        <p:spPr>
          <a:xfrm>
            <a:off x="6345936" y="2240280"/>
            <a:ext cx="5157216" cy="829843"/>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Chỉ áp dụng cho 01 sự vụ</a:t>
            </a:r>
            <a:endParaRPr sz="10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Quyền lợi hội viên chấm dứt sau khi sử dụng</a:t>
            </a:r>
            <a:endParaRPr sz="10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Ghi nhận ưu đãi trực tiếp vào hoá đơn DVTL, không áp dụng đồng thời nhiều chương trình khác, nếu có.</a:t>
            </a:r>
            <a:endParaRPr/>
          </a:p>
        </p:txBody>
      </p:sp>
      <p:sp>
        <p:nvSpPr>
          <p:cNvPr id="251" name="Google Shape;251;p7"/>
          <p:cNvSpPr/>
          <p:nvPr/>
        </p:nvSpPr>
        <p:spPr>
          <a:xfrm>
            <a:off x="548640" y="3977640"/>
            <a:ext cx="5431536" cy="20574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2" name="Google Shape;252;p7"/>
          <p:cNvSpPr txBox="1"/>
          <p:nvPr/>
        </p:nvSpPr>
        <p:spPr>
          <a:xfrm>
            <a:off x="685800" y="4114800"/>
            <a:ext cx="5157216"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200">
                <a:solidFill>
                  <a:srgbClr val="C5A55A"/>
                </a:solidFill>
                <a:latin typeface="Montserrat"/>
                <a:ea typeface="Montserrat"/>
                <a:cs typeface="Montserrat"/>
                <a:sym typeface="Montserrat"/>
              </a:rPr>
              <a:t>THAY ĐỔI ĐỐI TƯỢNG</a:t>
            </a:r>
            <a:endParaRPr/>
          </a:p>
        </p:txBody>
      </p:sp>
      <p:sp>
        <p:nvSpPr>
          <p:cNvPr id="253" name="Google Shape;253;p7"/>
          <p:cNvSpPr txBox="1"/>
          <p:nvPr/>
        </p:nvSpPr>
        <p:spPr>
          <a:xfrm>
            <a:off x="685800" y="4526280"/>
            <a:ext cx="5157216" cy="1371600"/>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Được quyền thay đổi đối tượng thụ hưởng 01 lần</a:t>
            </a:r>
            <a:endParaRPr sz="10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Đối tượng mới được áp dụng quyền lợi sau 60 ngày</a:t>
            </a:r>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Lưu ý xử lý các trường hợp bất khả kháng</a:t>
            </a:r>
            <a:endParaRPr sz="1050">
              <a:solidFill>
                <a:srgbClr val="3A3530"/>
              </a:solidFill>
              <a:latin typeface="Calibri"/>
              <a:ea typeface="Calibri"/>
              <a:cs typeface="Calibri"/>
              <a:sym typeface="Calibri"/>
            </a:endParaRPr>
          </a:p>
        </p:txBody>
      </p:sp>
      <p:sp>
        <p:nvSpPr>
          <p:cNvPr id="254" name="Google Shape;254;p7"/>
          <p:cNvSpPr/>
          <p:nvPr/>
        </p:nvSpPr>
        <p:spPr>
          <a:xfrm>
            <a:off x="6208776" y="3977640"/>
            <a:ext cx="5431536" cy="20574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 name="Google Shape;255;p7"/>
          <p:cNvSpPr txBox="1"/>
          <p:nvPr/>
        </p:nvSpPr>
        <p:spPr>
          <a:xfrm>
            <a:off x="6345936" y="4114800"/>
            <a:ext cx="5157216"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200">
                <a:solidFill>
                  <a:srgbClr val="C5A55A"/>
                </a:solidFill>
                <a:latin typeface="Montserrat"/>
                <a:ea typeface="Montserrat"/>
                <a:cs typeface="Montserrat"/>
                <a:sym typeface="Montserrat"/>
              </a:rPr>
              <a:t>GIA HẠN</a:t>
            </a:r>
            <a:endParaRPr/>
          </a:p>
        </p:txBody>
      </p:sp>
      <p:sp>
        <p:nvSpPr>
          <p:cNvPr id="256" name="Google Shape;256;p7"/>
          <p:cNvSpPr txBox="1"/>
          <p:nvPr/>
        </p:nvSpPr>
        <p:spPr>
          <a:xfrm>
            <a:off x="6345936" y="4526280"/>
            <a:ext cx="5157216" cy="644022"/>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Được chọn gia hạn thêm 10 năm tiếp theo</a:t>
            </a:r>
            <a:endParaRPr sz="10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Áp dụng phí hội viên tại thời điểm gia hạn</a:t>
            </a:r>
            <a:endParaRPr sz="10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Giữ nguyên mức chiết khấu cao nhất 10%</a:t>
            </a:r>
            <a:endParaRPr/>
          </a:p>
        </p:txBody>
      </p:sp>
      <p:sp>
        <p:nvSpPr>
          <p:cNvPr id="257" name="Google Shape;257;p7"/>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 name="Google Shape;258;p7"/>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Tư vấn viên phải giải thích rõ 04 nguyên tắc này trước khi khách hàng ký Phiếu đăng ký</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8"/>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 name="Google Shape;264;p8"/>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265" name="Google Shape;265;p8"/>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QUY TRÌNH BÁN HÀNG</a:t>
            </a:r>
            <a:endParaRPr/>
          </a:p>
        </p:txBody>
      </p:sp>
      <p:sp>
        <p:nvSpPr>
          <p:cNvPr id="266" name="Google Shape;266;p8"/>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5 bước xuyên suốt vòng đời quyền lợi hội viên</a:t>
            </a:r>
            <a:endParaRPr/>
          </a:p>
        </p:txBody>
      </p:sp>
      <p:cxnSp>
        <p:nvCxnSpPr>
          <p:cNvPr id="267" name="Google Shape;267;p8"/>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268" name="Google Shape;268;p8"/>
          <p:cNvSpPr/>
          <p:nvPr/>
        </p:nvSpPr>
        <p:spPr>
          <a:xfrm>
            <a:off x="548640" y="1783080"/>
            <a:ext cx="2108606" cy="416052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p8"/>
          <p:cNvSpPr/>
          <p:nvPr/>
        </p:nvSpPr>
        <p:spPr>
          <a:xfrm>
            <a:off x="548640" y="1783080"/>
            <a:ext cx="2108606" cy="50292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 name="Google Shape;270;p8"/>
          <p:cNvSpPr txBox="1"/>
          <p:nvPr/>
        </p:nvSpPr>
        <p:spPr>
          <a:xfrm>
            <a:off x="548640" y="1856232"/>
            <a:ext cx="2108606"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C5A55A"/>
                </a:solidFill>
                <a:latin typeface="Montserrat"/>
                <a:ea typeface="Montserrat"/>
                <a:cs typeface="Montserrat"/>
                <a:sym typeface="Montserrat"/>
              </a:rPr>
              <a:t>B1</a:t>
            </a:r>
            <a:endParaRPr/>
          </a:p>
        </p:txBody>
      </p:sp>
      <p:sp>
        <p:nvSpPr>
          <p:cNvPr id="271" name="Google Shape;271;p8"/>
          <p:cNvSpPr txBox="1"/>
          <p:nvPr/>
        </p:nvSpPr>
        <p:spPr>
          <a:xfrm>
            <a:off x="685800" y="2423160"/>
            <a:ext cx="1834286"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150">
                <a:solidFill>
                  <a:srgbClr val="3A3530"/>
                </a:solidFill>
                <a:latin typeface="Montserrat"/>
                <a:ea typeface="Montserrat"/>
                <a:cs typeface="Montserrat"/>
                <a:sym typeface="Montserrat"/>
              </a:rPr>
              <a:t>TƯ VẤN</a:t>
            </a:r>
            <a:endParaRPr/>
          </a:p>
        </p:txBody>
      </p:sp>
      <p:cxnSp>
        <p:nvCxnSpPr>
          <p:cNvPr id="272" name="Google Shape;272;p8"/>
          <p:cNvCxnSpPr/>
          <p:nvPr/>
        </p:nvCxnSpPr>
        <p:spPr>
          <a:xfrm>
            <a:off x="0" y="3429000"/>
            <a:ext cx="0" cy="0"/>
          </a:xfrm>
          <a:prstGeom prst="straightConnector1">
            <a:avLst/>
          </a:prstGeom>
          <a:noFill/>
          <a:ln cap="flat" cmpd="sng" w="12700">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273" name="Google Shape;273;p8"/>
          <p:cNvSpPr txBox="1"/>
          <p:nvPr/>
        </p:nvSpPr>
        <p:spPr>
          <a:xfrm>
            <a:off x="685800" y="3566160"/>
            <a:ext cx="1834286" cy="22860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1000">
                <a:solidFill>
                  <a:srgbClr val="3A3530"/>
                </a:solidFill>
                <a:latin typeface="Calibri"/>
                <a:ea typeface="Calibri"/>
                <a:cs typeface="Calibri"/>
                <a:sym typeface="Calibri"/>
              </a:rPr>
              <a:t>Giới thiệu chương trình, giải thích quyền lợi, điều khoản &amp; điều kiện cho khách hàng.</a:t>
            </a:r>
            <a:endParaRPr/>
          </a:p>
        </p:txBody>
      </p:sp>
      <p:sp>
        <p:nvSpPr>
          <p:cNvPr id="274" name="Google Shape;274;p8"/>
          <p:cNvSpPr/>
          <p:nvPr/>
        </p:nvSpPr>
        <p:spPr>
          <a:xfrm>
            <a:off x="2794406" y="1783080"/>
            <a:ext cx="2108606" cy="416052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p8"/>
          <p:cNvSpPr/>
          <p:nvPr/>
        </p:nvSpPr>
        <p:spPr>
          <a:xfrm>
            <a:off x="2794406" y="1783080"/>
            <a:ext cx="2108606" cy="50292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 name="Google Shape;276;p8"/>
          <p:cNvSpPr txBox="1"/>
          <p:nvPr/>
        </p:nvSpPr>
        <p:spPr>
          <a:xfrm>
            <a:off x="2794406" y="1856232"/>
            <a:ext cx="2108606"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C5A55A"/>
                </a:solidFill>
                <a:latin typeface="Montserrat"/>
                <a:ea typeface="Montserrat"/>
                <a:cs typeface="Montserrat"/>
                <a:sym typeface="Montserrat"/>
              </a:rPr>
              <a:t>B2</a:t>
            </a:r>
            <a:endParaRPr/>
          </a:p>
        </p:txBody>
      </p:sp>
      <p:sp>
        <p:nvSpPr>
          <p:cNvPr id="277" name="Google Shape;277;p8"/>
          <p:cNvSpPr txBox="1"/>
          <p:nvPr/>
        </p:nvSpPr>
        <p:spPr>
          <a:xfrm>
            <a:off x="2931566" y="2423160"/>
            <a:ext cx="1834286"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150">
                <a:solidFill>
                  <a:srgbClr val="3A3530"/>
                </a:solidFill>
                <a:latin typeface="Montserrat"/>
                <a:ea typeface="Montserrat"/>
                <a:cs typeface="Montserrat"/>
                <a:sym typeface="Montserrat"/>
              </a:rPr>
              <a:t>ĐĂNG KÝ HỘI VIÊN</a:t>
            </a:r>
            <a:endParaRPr/>
          </a:p>
        </p:txBody>
      </p:sp>
      <p:cxnSp>
        <p:nvCxnSpPr>
          <p:cNvPr id="278" name="Google Shape;278;p8"/>
          <p:cNvCxnSpPr/>
          <p:nvPr/>
        </p:nvCxnSpPr>
        <p:spPr>
          <a:xfrm>
            <a:off x="0" y="3429000"/>
            <a:ext cx="0" cy="0"/>
          </a:xfrm>
          <a:prstGeom prst="straightConnector1">
            <a:avLst/>
          </a:prstGeom>
          <a:noFill/>
          <a:ln cap="flat" cmpd="sng" w="12700">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279" name="Google Shape;279;p8"/>
          <p:cNvSpPr txBox="1"/>
          <p:nvPr/>
        </p:nvSpPr>
        <p:spPr>
          <a:xfrm>
            <a:off x="2931566" y="3566160"/>
            <a:ext cx="1834286" cy="22860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1000">
                <a:solidFill>
                  <a:srgbClr val="3A3530"/>
                </a:solidFill>
                <a:latin typeface="Calibri"/>
                <a:ea typeface="Calibri"/>
                <a:cs typeface="Calibri"/>
                <a:sym typeface="Calibri"/>
              </a:rPr>
              <a:t>Khách hàng nộp Phiếu đăng ký, đóng phí, cam kết hiểu rõ Điều khoản &amp; Điều kiện.</a:t>
            </a:r>
            <a:endParaRPr/>
          </a:p>
        </p:txBody>
      </p:sp>
      <p:sp>
        <p:nvSpPr>
          <p:cNvPr id="280" name="Google Shape;280;p8"/>
          <p:cNvSpPr/>
          <p:nvPr/>
        </p:nvSpPr>
        <p:spPr>
          <a:xfrm>
            <a:off x="5040172" y="1783080"/>
            <a:ext cx="2108606" cy="416052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 name="Google Shape;281;p8"/>
          <p:cNvSpPr/>
          <p:nvPr/>
        </p:nvSpPr>
        <p:spPr>
          <a:xfrm>
            <a:off x="5040172" y="1783080"/>
            <a:ext cx="2108606" cy="50292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8"/>
          <p:cNvSpPr txBox="1"/>
          <p:nvPr/>
        </p:nvSpPr>
        <p:spPr>
          <a:xfrm>
            <a:off x="5040172" y="1856232"/>
            <a:ext cx="2108606"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C5A55A"/>
                </a:solidFill>
                <a:latin typeface="Montserrat"/>
                <a:ea typeface="Montserrat"/>
                <a:cs typeface="Montserrat"/>
                <a:sym typeface="Montserrat"/>
              </a:rPr>
              <a:t>B3</a:t>
            </a:r>
            <a:endParaRPr/>
          </a:p>
        </p:txBody>
      </p:sp>
      <p:sp>
        <p:nvSpPr>
          <p:cNvPr id="283" name="Google Shape;283;p8"/>
          <p:cNvSpPr txBox="1"/>
          <p:nvPr/>
        </p:nvSpPr>
        <p:spPr>
          <a:xfrm>
            <a:off x="5177332" y="2423160"/>
            <a:ext cx="1834286"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150">
                <a:solidFill>
                  <a:srgbClr val="3A3530"/>
                </a:solidFill>
                <a:latin typeface="Montserrat"/>
                <a:ea typeface="Montserrat"/>
                <a:cs typeface="Montserrat"/>
                <a:sym typeface="Montserrat"/>
              </a:rPr>
              <a:t>CHĂM SÓC KHÁCH HÀNG</a:t>
            </a:r>
            <a:endParaRPr/>
          </a:p>
        </p:txBody>
      </p:sp>
      <p:cxnSp>
        <p:nvCxnSpPr>
          <p:cNvPr id="284" name="Google Shape;284;p8"/>
          <p:cNvCxnSpPr/>
          <p:nvPr/>
        </p:nvCxnSpPr>
        <p:spPr>
          <a:xfrm>
            <a:off x="0" y="3429000"/>
            <a:ext cx="0" cy="0"/>
          </a:xfrm>
          <a:prstGeom prst="straightConnector1">
            <a:avLst/>
          </a:prstGeom>
          <a:noFill/>
          <a:ln cap="flat" cmpd="sng" w="12700">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285" name="Google Shape;285;p8"/>
          <p:cNvSpPr txBox="1"/>
          <p:nvPr/>
        </p:nvSpPr>
        <p:spPr>
          <a:xfrm>
            <a:off x="5177332" y="3566160"/>
            <a:ext cx="1834286" cy="22860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1000">
                <a:solidFill>
                  <a:srgbClr val="3A3530"/>
                </a:solidFill>
                <a:latin typeface="Calibri"/>
                <a:ea typeface="Calibri"/>
                <a:cs typeface="Calibri"/>
                <a:sym typeface="Calibri"/>
              </a:rPr>
              <a:t>Lập kế hoạch tang lễ, tư vấn an nghỉ – y tế, tổ chức event / workshop cho hội viên.</a:t>
            </a:r>
            <a:endParaRPr/>
          </a:p>
        </p:txBody>
      </p:sp>
      <p:sp>
        <p:nvSpPr>
          <p:cNvPr id="286" name="Google Shape;286;p8"/>
          <p:cNvSpPr/>
          <p:nvPr/>
        </p:nvSpPr>
        <p:spPr>
          <a:xfrm>
            <a:off x="7285939" y="1783080"/>
            <a:ext cx="2108606" cy="416052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 name="Google Shape;287;p8"/>
          <p:cNvSpPr/>
          <p:nvPr/>
        </p:nvSpPr>
        <p:spPr>
          <a:xfrm>
            <a:off x="7285939" y="1783080"/>
            <a:ext cx="2108606" cy="50292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 name="Google Shape;288;p8"/>
          <p:cNvSpPr txBox="1"/>
          <p:nvPr/>
        </p:nvSpPr>
        <p:spPr>
          <a:xfrm>
            <a:off x="7285939" y="1856232"/>
            <a:ext cx="2108606"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C5A55A"/>
                </a:solidFill>
                <a:latin typeface="Montserrat"/>
                <a:ea typeface="Montserrat"/>
                <a:cs typeface="Montserrat"/>
                <a:sym typeface="Montserrat"/>
              </a:rPr>
              <a:t>B4</a:t>
            </a:r>
            <a:endParaRPr/>
          </a:p>
        </p:txBody>
      </p:sp>
      <p:sp>
        <p:nvSpPr>
          <p:cNvPr id="289" name="Google Shape;289;p8"/>
          <p:cNvSpPr txBox="1"/>
          <p:nvPr/>
        </p:nvSpPr>
        <p:spPr>
          <a:xfrm>
            <a:off x="7423099" y="2423160"/>
            <a:ext cx="1834286"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150">
                <a:solidFill>
                  <a:srgbClr val="3A3530"/>
                </a:solidFill>
                <a:latin typeface="Montserrat"/>
                <a:ea typeface="Montserrat"/>
                <a:cs typeface="Montserrat"/>
                <a:sym typeface="Montserrat"/>
              </a:rPr>
              <a:t>HỖ TRỢ DỊCH VỤ TANG LỄ</a:t>
            </a:r>
            <a:endParaRPr/>
          </a:p>
        </p:txBody>
      </p:sp>
      <p:cxnSp>
        <p:nvCxnSpPr>
          <p:cNvPr id="290" name="Google Shape;290;p8"/>
          <p:cNvCxnSpPr/>
          <p:nvPr/>
        </p:nvCxnSpPr>
        <p:spPr>
          <a:xfrm>
            <a:off x="0" y="3429000"/>
            <a:ext cx="0" cy="0"/>
          </a:xfrm>
          <a:prstGeom prst="straightConnector1">
            <a:avLst/>
          </a:prstGeom>
          <a:noFill/>
          <a:ln cap="flat" cmpd="sng" w="12700">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291" name="Google Shape;291;p8"/>
          <p:cNvSpPr txBox="1"/>
          <p:nvPr/>
        </p:nvSpPr>
        <p:spPr>
          <a:xfrm>
            <a:off x="7423099" y="3566160"/>
            <a:ext cx="1834286" cy="22860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1000">
                <a:solidFill>
                  <a:srgbClr val="3A3530"/>
                </a:solidFill>
                <a:latin typeface="Calibri"/>
                <a:ea typeface="Calibri"/>
                <a:cs typeface="Calibri"/>
                <a:sym typeface="Calibri"/>
              </a:rPr>
              <a:t>Khi có nhu cầu DVTL: chốt đơn, đặt cọc, xác nhận Phiếu sử dụng quyền lợi và trừ ưu đãi.</a:t>
            </a:r>
            <a:endParaRPr/>
          </a:p>
        </p:txBody>
      </p:sp>
      <p:sp>
        <p:nvSpPr>
          <p:cNvPr id="292" name="Google Shape;292;p8"/>
          <p:cNvSpPr/>
          <p:nvPr/>
        </p:nvSpPr>
        <p:spPr>
          <a:xfrm>
            <a:off x="9531705" y="1783080"/>
            <a:ext cx="2108606" cy="416052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 name="Google Shape;293;p8"/>
          <p:cNvSpPr/>
          <p:nvPr/>
        </p:nvSpPr>
        <p:spPr>
          <a:xfrm>
            <a:off x="9531705" y="1783080"/>
            <a:ext cx="2108606" cy="50292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 name="Google Shape;294;p8"/>
          <p:cNvSpPr txBox="1"/>
          <p:nvPr/>
        </p:nvSpPr>
        <p:spPr>
          <a:xfrm>
            <a:off x="9531705" y="1856232"/>
            <a:ext cx="2108606" cy="5029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C5A55A"/>
                </a:solidFill>
                <a:latin typeface="Montserrat"/>
                <a:ea typeface="Montserrat"/>
                <a:cs typeface="Montserrat"/>
                <a:sym typeface="Montserrat"/>
              </a:rPr>
              <a:t>B5</a:t>
            </a:r>
            <a:endParaRPr/>
          </a:p>
        </p:txBody>
      </p:sp>
      <p:sp>
        <p:nvSpPr>
          <p:cNvPr id="295" name="Google Shape;295;p8"/>
          <p:cNvSpPr txBox="1"/>
          <p:nvPr/>
        </p:nvSpPr>
        <p:spPr>
          <a:xfrm>
            <a:off x="9668865" y="2423160"/>
            <a:ext cx="1834286"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150">
                <a:solidFill>
                  <a:srgbClr val="3A3530"/>
                </a:solidFill>
                <a:latin typeface="Montserrat"/>
                <a:ea typeface="Montserrat"/>
                <a:cs typeface="Montserrat"/>
                <a:sym typeface="Montserrat"/>
              </a:rPr>
              <a:t>KẾT THÚC QUYỀN LỢI</a:t>
            </a:r>
            <a:endParaRPr/>
          </a:p>
        </p:txBody>
      </p:sp>
      <p:cxnSp>
        <p:nvCxnSpPr>
          <p:cNvPr id="296" name="Google Shape;296;p8"/>
          <p:cNvCxnSpPr/>
          <p:nvPr/>
        </p:nvCxnSpPr>
        <p:spPr>
          <a:xfrm>
            <a:off x="0" y="3429000"/>
            <a:ext cx="0" cy="0"/>
          </a:xfrm>
          <a:prstGeom prst="straightConnector1">
            <a:avLst/>
          </a:prstGeom>
          <a:noFill/>
          <a:ln cap="flat" cmpd="sng" w="12700">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297" name="Google Shape;297;p8"/>
          <p:cNvSpPr txBox="1"/>
          <p:nvPr/>
        </p:nvSpPr>
        <p:spPr>
          <a:xfrm>
            <a:off x="9668865" y="3566160"/>
            <a:ext cx="1834286" cy="22860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1000">
                <a:solidFill>
                  <a:srgbClr val="3A3530"/>
                </a:solidFill>
                <a:latin typeface="Calibri"/>
                <a:ea typeface="Calibri"/>
                <a:cs typeface="Calibri"/>
                <a:sym typeface="Calibri"/>
              </a:rPr>
              <a:t>Quyền lợi hội viên chấm dứt khi ưu đãi đã được ghi nhận vào hoá đơn DVTL.</a:t>
            </a:r>
            <a:endParaRPr/>
          </a:p>
        </p:txBody>
      </p:sp>
      <p:sp>
        <p:nvSpPr>
          <p:cNvPr id="298" name="Google Shape;298;p8"/>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8"/>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Quy trình chuẩn – đồng bộ – rõ ràng giữa Sales, CSKH, và Vận hành DVTL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9"/>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 name="Google Shape;306;p9"/>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307" name="Google Shape;307;p9"/>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QUẢN TRỊ CHƯƠNG TRÌNH</a:t>
            </a:r>
            <a:endParaRPr/>
          </a:p>
        </p:txBody>
      </p:sp>
      <p:sp>
        <p:nvSpPr>
          <p:cNvPr id="308" name="Google Shape;308;p9"/>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Hồ sơ, CRM và công cụ nhận diện hội viên</a:t>
            </a:r>
            <a:endParaRPr/>
          </a:p>
        </p:txBody>
      </p:sp>
      <p:cxnSp>
        <p:nvCxnSpPr>
          <p:cNvPr id="309" name="Google Shape;309;p9"/>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310" name="Google Shape;310;p9"/>
          <p:cNvSpPr/>
          <p:nvPr/>
        </p:nvSpPr>
        <p:spPr>
          <a:xfrm>
            <a:off x="548640" y="1691640"/>
            <a:ext cx="5431536" cy="20574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 name="Google Shape;311;p9"/>
          <p:cNvSpPr txBox="1"/>
          <p:nvPr/>
        </p:nvSpPr>
        <p:spPr>
          <a:xfrm>
            <a:off x="685800" y="1828800"/>
            <a:ext cx="5157216"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200">
                <a:solidFill>
                  <a:srgbClr val="C5A55A"/>
                </a:solidFill>
                <a:latin typeface="Montserrat"/>
                <a:ea typeface="Montserrat"/>
                <a:cs typeface="Montserrat"/>
                <a:sym typeface="Montserrat"/>
              </a:rPr>
              <a:t>HỒ SƠ GIẤY</a:t>
            </a:r>
            <a:endParaRPr/>
          </a:p>
        </p:txBody>
      </p:sp>
      <p:sp>
        <p:nvSpPr>
          <p:cNvPr id="312" name="Google Shape;312;p9"/>
          <p:cNvSpPr txBox="1"/>
          <p:nvPr/>
        </p:nvSpPr>
        <p:spPr>
          <a:xfrm>
            <a:off x="685800" y="2240280"/>
            <a:ext cx="5157216" cy="1371600"/>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Phiếu đăng ký hội viên: 02 bản (Công ty + Hội viên)</a:t>
            </a:r>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Lưu trữ thông tin hội viên và đối tượng thụ hưởng đã đăng ký</a:t>
            </a:r>
            <a:endParaRPr sz="10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Đơn hàng DVTL dự trù 02 bản, 01 bản đính kèm CRM</a:t>
            </a:r>
            <a:endParaRPr/>
          </a:p>
        </p:txBody>
      </p:sp>
      <p:sp>
        <p:nvSpPr>
          <p:cNvPr id="313" name="Google Shape;313;p9"/>
          <p:cNvSpPr/>
          <p:nvPr/>
        </p:nvSpPr>
        <p:spPr>
          <a:xfrm>
            <a:off x="6208776" y="1691640"/>
            <a:ext cx="5431536" cy="20574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9"/>
          <p:cNvSpPr txBox="1"/>
          <p:nvPr/>
        </p:nvSpPr>
        <p:spPr>
          <a:xfrm>
            <a:off x="6345936" y="1828800"/>
            <a:ext cx="5157216"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200">
                <a:solidFill>
                  <a:srgbClr val="C5A55A"/>
                </a:solidFill>
                <a:latin typeface="Montserrat"/>
                <a:ea typeface="Montserrat"/>
                <a:cs typeface="Montserrat"/>
                <a:sym typeface="Montserrat"/>
              </a:rPr>
              <a:t>MÃ HỘI VIÊN</a:t>
            </a:r>
            <a:endParaRPr/>
          </a:p>
        </p:txBody>
      </p:sp>
      <p:sp>
        <p:nvSpPr>
          <p:cNvPr id="315" name="Google Shape;315;p9"/>
          <p:cNvSpPr txBox="1"/>
          <p:nvPr/>
        </p:nvSpPr>
        <p:spPr>
          <a:xfrm>
            <a:off x="6345936" y="2240280"/>
            <a:ext cx="5157216" cy="1371600"/>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Mỗi hội viên được cấp 01 mã trùng với số điện thoại</a:t>
            </a:r>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Thuận tiện xác minh và yêu cầu dịch vụ</a:t>
            </a:r>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Là khoá liên kết dữ liệu giữa các bộ phận</a:t>
            </a:r>
            <a:endParaRPr/>
          </a:p>
        </p:txBody>
      </p:sp>
      <p:sp>
        <p:nvSpPr>
          <p:cNvPr id="316" name="Google Shape;316;p9"/>
          <p:cNvSpPr/>
          <p:nvPr/>
        </p:nvSpPr>
        <p:spPr>
          <a:xfrm>
            <a:off x="548640" y="3977640"/>
            <a:ext cx="5431536" cy="20574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 name="Google Shape;317;p9"/>
          <p:cNvSpPr txBox="1"/>
          <p:nvPr/>
        </p:nvSpPr>
        <p:spPr>
          <a:xfrm>
            <a:off x="685800" y="4114800"/>
            <a:ext cx="5157216"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200">
                <a:solidFill>
                  <a:srgbClr val="C5A55A"/>
                </a:solidFill>
                <a:latin typeface="Montserrat"/>
                <a:ea typeface="Montserrat"/>
                <a:cs typeface="Montserrat"/>
                <a:sym typeface="Montserrat"/>
              </a:rPr>
              <a:t>HỆ THỐNG CRM</a:t>
            </a:r>
            <a:endParaRPr/>
          </a:p>
        </p:txBody>
      </p:sp>
      <p:sp>
        <p:nvSpPr>
          <p:cNvPr id="318" name="Google Shape;318;p9"/>
          <p:cNvSpPr txBox="1"/>
          <p:nvPr/>
        </p:nvSpPr>
        <p:spPr>
          <a:xfrm>
            <a:off x="685800" y="4526280"/>
            <a:ext cx="5157216" cy="1371600"/>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Tạo account hội viên trong phần mềm CRM</a:t>
            </a:r>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Đính kèm Phiếu đăng ký &amp; Kế hoạch tang lễ vào tài khoản</a:t>
            </a:r>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Theo dõi thời hạn, trạng thái quyền lợi</a:t>
            </a:r>
            <a:endParaRPr/>
          </a:p>
        </p:txBody>
      </p:sp>
      <p:sp>
        <p:nvSpPr>
          <p:cNvPr id="319" name="Google Shape;319;p9"/>
          <p:cNvSpPr/>
          <p:nvPr/>
        </p:nvSpPr>
        <p:spPr>
          <a:xfrm>
            <a:off x="6208776" y="3977640"/>
            <a:ext cx="5431536" cy="20574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0" name="Google Shape;320;p9"/>
          <p:cNvSpPr txBox="1"/>
          <p:nvPr/>
        </p:nvSpPr>
        <p:spPr>
          <a:xfrm>
            <a:off x="6345936" y="4114800"/>
            <a:ext cx="1910138" cy="230832"/>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200">
                <a:solidFill>
                  <a:srgbClr val="C5A55A"/>
                </a:solidFill>
                <a:latin typeface="Montserrat"/>
                <a:ea typeface="Montserrat"/>
                <a:cs typeface="Montserrat"/>
                <a:sym typeface="Montserrat"/>
              </a:rPr>
              <a:t>THẺ HỘI VIÊN ĐIỆN TỬ</a:t>
            </a:r>
            <a:endParaRPr b="1" sz="1200">
              <a:solidFill>
                <a:srgbClr val="C5A55A"/>
              </a:solidFill>
              <a:latin typeface="Montserrat"/>
              <a:ea typeface="Montserrat"/>
              <a:cs typeface="Montserrat"/>
              <a:sym typeface="Montserrat"/>
            </a:endParaRPr>
          </a:p>
        </p:txBody>
      </p:sp>
      <p:sp>
        <p:nvSpPr>
          <p:cNvPr id="321" name="Google Shape;321;p9"/>
          <p:cNvSpPr txBox="1"/>
          <p:nvPr/>
        </p:nvSpPr>
        <p:spPr>
          <a:xfrm>
            <a:off x="6345936" y="4526280"/>
            <a:ext cx="5157216" cy="1066959"/>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Thông tin hội viên, thời hạn, hotline công ty</a:t>
            </a:r>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Cơ sở xác minh quyền lợi khi tham gia ưu đãi, hội thảo</a:t>
            </a:r>
            <a:endParaRPr sz="10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Công cụ lan toả chương trình đến bạn bè, người thân</a:t>
            </a:r>
            <a:endParaRPr sz="10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1050">
                <a:solidFill>
                  <a:srgbClr val="C5A55A"/>
                </a:solidFill>
                <a:latin typeface="Calibri"/>
                <a:ea typeface="Calibri"/>
                <a:cs typeface="Calibri"/>
                <a:sym typeface="Calibri"/>
              </a:rPr>
              <a:t>▪  </a:t>
            </a:r>
            <a:r>
              <a:rPr lang="en-US" sz="1050">
                <a:solidFill>
                  <a:srgbClr val="3A3530"/>
                </a:solidFill>
                <a:latin typeface="Calibri"/>
                <a:ea typeface="Calibri"/>
                <a:cs typeface="Calibri"/>
                <a:sym typeface="Calibri"/>
              </a:rPr>
              <a:t>Tính năng kiểm tra Hội Viên ngay trên Website: blackstones.vn</a:t>
            </a:r>
            <a:endParaRPr/>
          </a:p>
          <a:p>
            <a:pPr indent="0" lvl="0" marL="0" marR="0" rtl="0" algn="l">
              <a:lnSpc>
                <a:spcPct val="115000"/>
              </a:lnSpc>
              <a:spcBef>
                <a:spcPts val="200"/>
              </a:spcBef>
              <a:spcAft>
                <a:spcPts val="0"/>
              </a:spcAft>
              <a:buNone/>
            </a:pPr>
            <a:r>
              <a:t/>
            </a:r>
            <a:endParaRPr sz="1050">
              <a:solidFill>
                <a:srgbClr val="3A3530"/>
              </a:solidFill>
              <a:latin typeface="Calibri"/>
              <a:ea typeface="Calibri"/>
              <a:cs typeface="Calibri"/>
              <a:sym typeface="Calibri"/>
            </a:endParaRPr>
          </a:p>
        </p:txBody>
      </p:sp>
      <p:sp>
        <p:nvSpPr>
          <p:cNvPr id="322" name="Google Shape;322;p9"/>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 name="Google Shape;323;p9"/>
          <p:cNvSpPr txBox="1"/>
          <p:nvPr/>
        </p:nvSpPr>
        <p:spPr>
          <a:xfrm>
            <a:off x="2993604" y="6263640"/>
            <a:ext cx="6265754"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Thẻ hội viên điện tử được thiết kế như công cụ giới thiệu – lan toả đến bạn bè, người thân</a:t>
            </a:r>
            <a:endParaRPr i="1" sz="1200">
              <a:solidFill>
                <a:srgbClr val="E8D9B0"/>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0"/>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 name="Google Shape;329;p10"/>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330" name="Google Shape;330;p10"/>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BỘ HỒ SƠ PHÁP LÝ</a:t>
            </a:r>
            <a:endParaRPr/>
          </a:p>
        </p:txBody>
      </p:sp>
      <p:sp>
        <p:nvSpPr>
          <p:cNvPr id="331" name="Google Shape;331;p10"/>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Các tài liệu bắt buộc triển khai cùng chương trình</a:t>
            </a:r>
            <a:endParaRPr/>
          </a:p>
        </p:txBody>
      </p:sp>
      <p:cxnSp>
        <p:nvCxnSpPr>
          <p:cNvPr id="332" name="Google Shape;332;p10"/>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333" name="Google Shape;333;p10"/>
          <p:cNvSpPr/>
          <p:nvPr/>
        </p:nvSpPr>
        <p:spPr>
          <a:xfrm>
            <a:off x="548640" y="1783080"/>
            <a:ext cx="2635758" cy="27432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4" name="Google Shape;334;p10"/>
          <p:cNvSpPr txBox="1"/>
          <p:nvPr/>
        </p:nvSpPr>
        <p:spPr>
          <a:xfrm>
            <a:off x="685800" y="1920240"/>
            <a:ext cx="2361438"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PHIẾU ĐĂNG KÝ HỘI VIÊN</a:t>
            </a:r>
            <a:endParaRPr/>
          </a:p>
        </p:txBody>
      </p:sp>
      <p:sp>
        <p:nvSpPr>
          <p:cNvPr id="335" name="Google Shape;335;p10"/>
          <p:cNvSpPr txBox="1"/>
          <p:nvPr/>
        </p:nvSpPr>
        <p:spPr>
          <a:xfrm>
            <a:off x="685800" y="2331720"/>
            <a:ext cx="2361438" cy="769313"/>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00">
                <a:solidFill>
                  <a:srgbClr val="C5A55A"/>
                </a:solidFill>
                <a:latin typeface="Calibri"/>
                <a:ea typeface="Calibri"/>
                <a:cs typeface="Calibri"/>
                <a:sym typeface="Calibri"/>
              </a:rPr>
              <a:t>▪  </a:t>
            </a:r>
            <a:r>
              <a:rPr lang="en-US" sz="1000">
                <a:solidFill>
                  <a:srgbClr val="0C0C0C"/>
                </a:solidFill>
                <a:latin typeface="Calibri"/>
                <a:ea typeface="Calibri"/>
                <a:cs typeface="Calibri"/>
                <a:sym typeface="Calibri"/>
              </a:rPr>
              <a:t>Khách hàng kê khai thông tin &amp; ký cam kết; hai bản (Công ty + Khách hàng).</a:t>
            </a:r>
            <a:endParaRPr sz="1000">
              <a:solidFill>
                <a:srgbClr val="0C0C0C"/>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1000">
                <a:solidFill>
                  <a:srgbClr val="0C0C0C"/>
                </a:solidFill>
                <a:latin typeface="Calibri"/>
                <a:ea typeface="Calibri"/>
                <a:cs typeface="Calibri"/>
                <a:sym typeface="Calibri"/>
              </a:rPr>
              <a:t>▪  CRM Số hóa thông tin hội viên và lưu trữ dữ liệu hợp đồng, thông tin điện tử.</a:t>
            </a:r>
            <a:endParaRPr sz="1000">
              <a:solidFill>
                <a:srgbClr val="0C0C0C"/>
              </a:solidFill>
              <a:latin typeface="Calibri"/>
              <a:ea typeface="Calibri"/>
              <a:cs typeface="Calibri"/>
              <a:sym typeface="Calibri"/>
            </a:endParaRPr>
          </a:p>
        </p:txBody>
      </p:sp>
      <p:sp>
        <p:nvSpPr>
          <p:cNvPr id="336" name="Google Shape;336;p10"/>
          <p:cNvSpPr/>
          <p:nvPr/>
        </p:nvSpPr>
        <p:spPr>
          <a:xfrm>
            <a:off x="3367278" y="1783080"/>
            <a:ext cx="2635758" cy="27432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 name="Google Shape;337;p10"/>
          <p:cNvSpPr txBox="1"/>
          <p:nvPr/>
        </p:nvSpPr>
        <p:spPr>
          <a:xfrm>
            <a:off x="3504438" y="1920240"/>
            <a:ext cx="2361438"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ĐIỀU KHOẢN &amp; ĐIỀU KIỆN</a:t>
            </a:r>
            <a:endParaRPr/>
          </a:p>
        </p:txBody>
      </p:sp>
      <p:sp>
        <p:nvSpPr>
          <p:cNvPr id="338" name="Google Shape;338;p10"/>
          <p:cNvSpPr txBox="1"/>
          <p:nvPr/>
        </p:nvSpPr>
        <p:spPr>
          <a:xfrm>
            <a:off x="3504438" y="2331720"/>
            <a:ext cx="2361438" cy="2057400"/>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00">
                <a:solidFill>
                  <a:srgbClr val="C5A55A"/>
                </a:solidFill>
                <a:latin typeface="Calibri"/>
                <a:ea typeface="Calibri"/>
                <a:cs typeface="Calibri"/>
                <a:sym typeface="Calibri"/>
              </a:rPr>
              <a:t>▪  </a:t>
            </a:r>
            <a:r>
              <a:rPr lang="en-US" sz="1000">
                <a:solidFill>
                  <a:srgbClr val="3A3530"/>
                </a:solidFill>
                <a:latin typeface="Calibri"/>
                <a:ea typeface="Calibri"/>
                <a:cs typeface="Calibri"/>
                <a:sym typeface="Calibri"/>
              </a:rPr>
              <a:t>Đăng trên trang riêng của chương trình để cập nhật và bổ sung ưu đãi.</a:t>
            </a:r>
            <a:endParaRPr/>
          </a:p>
        </p:txBody>
      </p:sp>
      <p:sp>
        <p:nvSpPr>
          <p:cNvPr id="339" name="Google Shape;339;p10"/>
          <p:cNvSpPr/>
          <p:nvPr/>
        </p:nvSpPr>
        <p:spPr>
          <a:xfrm>
            <a:off x="6185916" y="1783080"/>
            <a:ext cx="2635758" cy="27432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0" name="Google Shape;340;p10"/>
          <p:cNvSpPr txBox="1"/>
          <p:nvPr/>
        </p:nvSpPr>
        <p:spPr>
          <a:xfrm>
            <a:off x="6323076" y="1920240"/>
            <a:ext cx="2361438"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PHIẾU XÁC NHẬN SỬ DỤNG</a:t>
            </a:r>
            <a:endParaRPr/>
          </a:p>
        </p:txBody>
      </p:sp>
      <p:sp>
        <p:nvSpPr>
          <p:cNvPr id="341" name="Google Shape;341;p10"/>
          <p:cNvSpPr txBox="1"/>
          <p:nvPr/>
        </p:nvSpPr>
        <p:spPr>
          <a:xfrm>
            <a:off x="6323076" y="2331720"/>
            <a:ext cx="2361438" cy="1148904"/>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00">
                <a:solidFill>
                  <a:srgbClr val="C5A55A"/>
                </a:solidFill>
                <a:latin typeface="Calibri"/>
                <a:ea typeface="Calibri"/>
                <a:cs typeface="Calibri"/>
                <a:sym typeface="Calibri"/>
              </a:rPr>
              <a:t>▪  </a:t>
            </a:r>
            <a:r>
              <a:rPr lang="en-US" sz="1000">
                <a:solidFill>
                  <a:srgbClr val="3A3530"/>
                </a:solidFill>
                <a:latin typeface="Calibri"/>
                <a:ea typeface="Calibri"/>
                <a:cs typeface="Calibri"/>
                <a:sym typeface="Calibri"/>
              </a:rPr>
              <a:t>Khách hàng gửi khi sử dụng quyền lợi; Công ty xác nhận và trừ vào đơn DVTL. Đồng thời cập nhật trạng thái sử dụng trên CRM.</a:t>
            </a:r>
            <a:endParaRPr/>
          </a:p>
          <a:p>
            <a:pPr indent="0" lvl="0" marL="0" marR="0" rtl="0" algn="l">
              <a:lnSpc>
                <a:spcPct val="115000"/>
              </a:lnSpc>
              <a:spcBef>
                <a:spcPts val="200"/>
              </a:spcBef>
              <a:spcAft>
                <a:spcPts val="0"/>
              </a:spcAft>
              <a:buNone/>
            </a:pPr>
            <a:r>
              <a:t/>
            </a:r>
            <a:endParaRPr sz="100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t/>
            </a:r>
            <a:endParaRPr sz="1000">
              <a:solidFill>
                <a:srgbClr val="3A3530"/>
              </a:solidFill>
              <a:latin typeface="Calibri"/>
              <a:ea typeface="Calibri"/>
              <a:cs typeface="Calibri"/>
              <a:sym typeface="Calibri"/>
            </a:endParaRPr>
          </a:p>
        </p:txBody>
      </p:sp>
      <p:sp>
        <p:nvSpPr>
          <p:cNvPr id="342" name="Google Shape;342;p10"/>
          <p:cNvSpPr/>
          <p:nvPr/>
        </p:nvSpPr>
        <p:spPr>
          <a:xfrm>
            <a:off x="9004554" y="1783080"/>
            <a:ext cx="2635758" cy="274320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3" name="Google Shape;343;p10"/>
          <p:cNvSpPr txBox="1"/>
          <p:nvPr/>
        </p:nvSpPr>
        <p:spPr>
          <a:xfrm>
            <a:off x="9141714" y="1920240"/>
            <a:ext cx="2361438"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KẾ HOẠCH TANG LỄ DỰ TRÙ</a:t>
            </a:r>
            <a:endParaRPr/>
          </a:p>
        </p:txBody>
      </p:sp>
      <p:sp>
        <p:nvSpPr>
          <p:cNvPr id="344" name="Google Shape;344;p10"/>
          <p:cNvSpPr txBox="1"/>
          <p:nvPr/>
        </p:nvSpPr>
        <p:spPr>
          <a:xfrm>
            <a:off x="9141714" y="2331720"/>
            <a:ext cx="2361438" cy="2057400"/>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1000">
                <a:solidFill>
                  <a:srgbClr val="C5A55A"/>
                </a:solidFill>
                <a:latin typeface="Calibri"/>
                <a:ea typeface="Calibri"/>
                <a:cs typeface="Calibri"/>
                <a:sym typeface="Calibri"/>
              </a:rPr>
              <a:t>▪  </a:t>
            </a:r>
            <a:r>
              <a:rPr lang="en-US" sz="1000">
                <a:solidFill>
                  <a:srgbClr val="3A3530"/>
                </a:solidFill>
                <a:latin typeface="Calibri"/>
                <a:ea typeface="Calibri"/>
                <a:cs typeface="Calibri"/>
                <a:sym typeface="Calibri"/>
              </a:rPr>
              <a:t>Bản dự trù gắn với hồ sơ hội viên trong CRM, hỗ trợ kịp thời khi cần.</a:t>
            </a:r>
            <a:endParaRPr/>
          </a:p>
        </p:txBody>
      </p:sp>
      <p:sp>
        <p:nvSpPr>
          <p:cNvPr id="345" name="Google Shape;345;p10"/>
          <p:cNvSpPr/>
          <p:nvPr/>
        </p:nvSpPr>
        <p:spPr>
          <a:xfrm>
            <a:off x="548640" y="4846320"/>
            <a:ext cx="11091672" cy="1234440"/>
          </a:xfrm>
          <a:prstGeom prst="roundRect">
            <a:avLst>
              <a:gd fmla="val 8000" name="adj"/>
            </a:avLst>
          </a:prstGeom>
          <a:solidFill>
            <a:srgbClr val="E8D9B0"/>
          </a:solidFill>
          <a:ln cap="flat" cmpd="sng" w="9525">
            <a:solidFill>
              <a:srgbClr val="C5A55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p10"/>
          <p:cNvSpPr txBox="1"/>
          <p:nvPr/>
        </p:nvSpPr>
        <p:spPr>
          <a:xfrm>
            <a:off x="777240" y="4937760"/>
            <a:ext cx="10607040" cy="10972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A3530"/>
                </a:solidFill>
                <a:latin typeface="Montserrat"/>
                <a:ea typeface="Montserrat"/>
                <a:cs typeface="Montserrat"/>
                <a:sym typeface="Montserrat"/>
              </a:rPr>
              <a:t>LƯU Ý PHÁP LÝ QUAN TRỌNG</a:t>
            </a:r>
            <a:endParaRPr/>
          </a:p>
          <a:p>
            <a:pPr indent="0" lvl="0" marL="0" marR="0" rtl="0" algn="l">
              <a:spcBef>
                <a:spcPts val="400"/>
              </a:spcBef>
              <a:spcAft>
                <a:spcPts val="0"/>
              </a:spcAft>
              <a:buNone/>
            </a:pPr>
            <a:r>
              <a:rPr i="1" lang="en-US" sz="1050">
                <a:solidFill>
                  <a:srgbClr val="3A3530"/>
                </a:solidFill>
                <a:latin typeface="Calibri"/>
                <a:ea typeface="Calibri"/>
                <a:cs typeface="Calibri"/>
                <a:sym typeface="Calibri"/>
              </a:rPr>
              <a:t>Toàn bộ Điều khoản &amp; Điều kiện được đăng trên trang riêng của chương trình để thuận tiện cập nhật khi cần bổ sung ưu đãi. Phiên bản T&amp;C đính kèm theo từng khách hàng phải được lưu trữ đích danh (hồ sơ cứng + file mềm + CRM) theo đúng version đã ký.</a:t>
            </a:r>
            <a:endParaRPr/>
          </a:p>
        </p:txBody>
      </p:sp>
      <p:sp>
        <p:nvSpPr>
          <p:cNvPr id="347" name="Google Shape;347;p10"/>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8" name="Google Shape;348;p10"/>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Hợp đồng điện tử – Digital Flow là mục tiêu triển khai giai đoạn 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1"/>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 name="Google Shape;354;p11"/>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355" name="Google Shape;355;p11"/>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REASON TO BELIEVE</a:t>
            </a:r>
            <a:endParaRPr/>
          </a:p>
        </p:txBody>
      </p:sp>
      <p:sp>
        <p:nvSpPr>
          <p:cNvPr id="356" name="Google Shape;356;p11"/>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Vì sao khách hàng có thể yên tâm lựa chọn Blackstones</a:t>
            </a:r>
            <a:endParaRPr/>
          </a:p>
        </p:txBody>
      </p:sp>
      <p:cxnSp>
        <p:nvCxnSpPr>
          <p:cNvPr id="357" name="Google Shape;357;p11"/>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358" name="Google Shape;358;p11"/>
          <p:cNvSpPr/>
          <p:nvPr/>
        </p:nvSpPr>
        <p:spPr>
          <a:xfrm>
            <a:off x="1097280" y="1737360"/>
            <a:ext cx="1188720" cy="118872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6.000+</a:t>
            </a:r>
            <a:endParaRPr/>
          </a:p>
        </p:txBody>
      </p:sp>
      <p:sp>
        <p:nvSpPr>
          <p:cNvPr id="359" name="Google Shape;359;p11"/>
          <p:cNvSpPr txBox="1"/>
          <p:nvPr/>
        </p:nvSpPr>
        <p:spPr>
          <a:xfrm>
            <a:off x="822960" y="2971800"/>
            <a:ext cx="1737360" cy="320040"/>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Khách hàng đã phục vụ</a:t>
            </a:r>
            <a:endParaRPr/>
          </a:p>
        </p:txBody>
      </p:sp>
      <p:sp>
        <p:nvSpPr>
          <p:cNvPr id="360" name="Google Shape;360;p11"/>
          <p:cNvSpPr/>
          <p:nvPr/>
        </p:nvSpPr>
        <p:spPr>
          <a:xfrm>
            <a:off x="3310127" y="1737360"/>
            <a:ext cx="1188720" cy="118872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1.500</a:t>
            </a:r>
            <a:endParaRPr/>
          </a:p>
        </p:txBody>
      </p:sp>
      <p:sp>
        <p:nvSpPr>
          <p:cNvPr id="361" name="Google Shape;361;p11"/>
          <p:cNvSpPr txBox="1"/>
          <p:nvPr/>
        </p:nvSpPr>
        <p:spPr>
          <a:xfrm>
            <a:off x="3035807" y="2971800"/>
            <a:ext cx="1737360" cy="320040"/>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Tang lễ cao cấp / năm</a:t>
            </a:r>
            <a:endParaRPr/>
          </a:p>
        </p:txBody>
      </p:sp>
      <p:sp>
        <p:nvSpPr>
          <p:cNvPr id="362" name="Google Shape;362;p11"/>
          <p:cNvSpPr/>
          <p:nvPr/>
        </p:nvSpPr>
        <p:spPr>
          <a:xfrm>
            <a:off x="5522976" y="1737360"/>
            <a:ext cx="1188720" cy="118872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5</a:t>
            </a:r>
            <a:endParaRPr/>
          </a:p>
        </p:txBody>
      </p:sp>
      <p:sp>
        <p:nvSpPr>
          <p:cNvPr id="363" name="Google Shape;363;p11"/>
          <p:cNvSpPr txBox="1"/>
          <p:nvPr/>
        </p:nvSpPr>
        <p:spPr>
          <a:xfrm>
            <a:off x="5248656" y="2971800"/>
            <a:ext cx="1737360" cy="320040"/>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Chi nhánh toàn quốc</a:t>
            </a:r>
            <a:endParaRPr/>
          </a:p>
        </p:txBody>
      </p:sp>
      <p:sp>
        <p:nvSpPr>
          <p:cNvPr id="364" name="Google Shape;364;p11"/>
          <p:cNvSpPr/>
          <p:nvPr/>
        </p:nvSpPr>
        <p:spPr>
          <a:xfrm>
            <a:off x="7735823" y="1737360"/>
            <a:ext cx="1188720" cy="118872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100+</a:t>
            </a:r>
            <a:endParaRPr/>
          </a:p>
        </p:txBody>
      </p:sp>
      <p:sp>
        <p:nvSpPr>
          <p:cNvPr id="365" name="Google Shape;365;p11"/>
          <p:cNvSpPr txBox="1"/>
          <p:nvPr/>
        </p:nvSpPr>
        <p:spPr>
          <a:xfrm>
            <a:off x="7461503" y="2971800"/>
            <a:ext cx="1737360" cy="320040"/>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Nhân sự chính thức</a:t>
            </a:r>
            <a:endParaRPr/>
          </a:p>
        </p:txBody>
      </p:sp>
      <p:sp>
        <p:nvSpPr>
          <p:cNvPr id="366" name="Google Shape;366;p11"/>
          <p:cNvSpPr/>
          <p:nvPr/>
        </p:nvSpPr>
        <p:spPr>
          <a:xfrm>
            <a:off x="9948672" y="1737360"/>
            <a:ext cx="1188720" cy="118872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10.000</a:t>
            </a:r>
            <a:endParaRPr/>
          </a:p>
        </p:txBody>
      </p:sp>
      <p:sp>
        <p:nvSpPr>
          <p:cNvPr id="367" name="Google Shape;367;p11"/>
          <p:cNvSpPr txBox="1"/>
          <p:nvPr/>
        </p:nvSpPr>
        <p:spPr>
          <a:xfrm>
            <a:off x="9674352" y="2971800"/>
            <a:ext cx="1737360" cy="320040"/>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Ca phục vụ mùa Covid</a:t>
            </a:r>
            <a:endParaRPr/>
          </a:p>
        </p:txBody>
      </p:sp>
      <p:sp>
        <p:nvSpPr>
          <p:cNvPr id="368" name="Google Shape;368;p11"/>
          <p:cNvSpPr txBox="1"/>
          <p:nvPr/>
        </p:nvSpPr>
        <p:spPr>
          <a:xfrm>
            <a:off x="548640" y="3840480"/>
            <a:ext cx="11091672" cy="1763560"/>
          </a:xfrm>
          <a:prstGeom prst="rect">
            <a:avLst/>
          </a:prstGeom>
          <a:noFill/>
          <a:ln>
            <a:noFill/>
          </a:ln>
        </p:spPr>
        <p:txBody>
          <a:bodyPr anchorCtr="0" anchor="t" bIns="45700" lIns="73150" spcFirstLastPara="1" rIns="91425" wrap="square" tIns="73150">
            <a:spAutoFit/>
          </a:bodyPr>
          <a:lstStyle/>
          <a:p>
            <a:pPr indent="-228600" lvl="0" marL="228600" marR="0" rtl="0" algn="l">
              <a:lnSpc>
                <a:spcPct val="115000"/>
              </a:lnSpc>
              <a:spcBef>
                <a:spcPts val="0"/>
              </a:spcBef>
              <a:spcAft>
                <a:spcPts val="0"/>
              </a:spcAft>
              <a:buClr>
                <a:srgbClr val="C5A55A"/>
              </a:buClr>
              <a:buSzPts val="1150"/>
              <a:buFont typeface="Calibri"/>
              <a:buAutoNum type="arabicPeriod"/>
            </a:pPr>
            <a:r>
              <a:rPr b="1" lang="en-US" sz="1150">
                <a:solidFill>
                  <a:srgbClr val="C5A55A"/>
                </a:solidFill>
                <a:latin typeface="Calibri"/>
                <a:ea typeface="Calibri"/>
                <a:cs typeface="Calibri"/>
                <a:sym typeface="Calibri"/>
              </a:rPr>
              <a:t>▪  </a:t>
            </a:r>
            <a:r>
              <a:rPr lang="en-US" sz="1150">
                <a:solidFill>
                  <a:srgbClr val="3A3530"/>
                </a:solidFill>
                <a:latin typeface="Calibri"/>
                <a:ea typeface="Calibri"/>
                <a:cs typeface="Calibri"/>
                <a:sym typeface="Calibri"/>
              </a:rPr>
              <a:t>Hợp đồng pháp lý minh bạch – rõ ràng, ký trực tiếp với khách hàng</a:t>
            </a:r>
            <a:endParaRPr/>
          </a:p>
          <a:p>
            <a:pPr indent="-228600" lvl="0" marL="228600" marR="0" rtl="0" algn="l">
              <a:lnSpc>
                <a:spcPct val="115000"/>
              </a:lnSpc>
              <a:spcBef>
                <a:spcPts val="300"/>
              </a:spcBef>
              <a:spcAft>
                <a:spcPts val="0"/>
              </a:spcAft>
              <a:buClr>
                <a:srgbClr val="C5A55A"/>
              </a:buClr>
              <a:buSzPts val="1150"/>
              <a:buFont typeface="Calibri"/>
              <a:buAutoNum type="arabicPeriod"/>
            </a:pPr>
            <a:r>
              <a:rPr b="1" lang="en-US" sz="1150">
                <a:solidFill>
                  <a:srgbClr val="C5A55A"/>
                </a:solidFill>
                <a:latin typeface="Calibri"/>
                <a:ea typeface="Calibri"/>
                <a:cs typeface="Calibri"/>
                <a:sym typeface="Calibri"/>
              </a:rPr>
              <a:t>▪  </a:t>
            </a:r>
            <a:r>
              <a:rPr lang="en-US" sz="1150">
                <a:solidFill>
                  <a:srgbClr val="3A3530"/>
                </a:solidFill>
                <a:latin typeface="Calibri"/>
                <a:ea typeface="Calibri"/>
                <a:cs typeface="Calibri"/>
                <a:sym typeface="Calibri"/>
              </a:rPr>
              <a:t>Quản lý tài chính bởi VietinBank – Kiểm toán bởi KPMG</a:t>
            </a:r>
            <a:endParaRPr/>
          </a:p>
          <a:p>
            <a:pPr indent="-228600" lvl="0" marL="228600" marR="0" rtl="0" algn="l">
              <a:lnSpc>
                <a:spcPct val="115000"/>
              </a:lnSpc>
              <a:spcBef>
                <a:spcPts val="300"/>
              </a:spcBef>
              <a:spcAft>
                <a:spcPts val="0"/>
              </a:spcAft>
              <a:buClr>
                <a:srgbClr val="C5A55A"/>
              </a:buClr>
              <a:buSzPts val="1150"/>
              <a:buFont typeface="Calibri"/>
              <a:buAutoNum type="arabicPeriod"/>
            </a:pPr>
            <a:r>
              <a:rPr b="1" lang="en-US" sz="1150">
                <a:solidFill>
                  <a:srgbClr val="C5A55A"/>
                </a:solidFill>
                <a:latin typeface="Calibri"/>
                <a:ea typeface="Calibri"/>
                <a:cs typeface="Calibri"/>
                <a:sym typeface="Calibri"/>
              </a:rPr>
              <a:t>▪  </a:t>
            </a:r>
            <a:r>
              <a:rPr lang="en-US" sz="1150">
                <a:solidFill>
                  <a:srgbClr val="3A3530"/>
                </a:solidFill>
                <a:latin typeface="Calibri"/>
                <a:ea typeface="Calibri"/>
                <a:cs typeface="Calibri"/>
                <a:sym typeface="Calibri"/>
              </a:rPr>
              <a:t>Đạt chuẩn ISO 9001:2015 – chuẩn chất lượng quốc tế trong ngành</a:t>
            </a:r>
            <a:endParaRPr sz="1150">
              <a:solidFill>
                <a:srgbClr val="3A3530"/>
              </a:solidFill>
              <a:latin typeface="Calibri"/>
              <a:ea typeface="Calibri"/>
              <a:cs typeface="Calibri"/>
              <a:sym typeface="Calibri"/>
            </a:endParaRPr>
          </a:p>
          <a:p>
            <a:pPr indent="-228600" lvl="0" marL="228600" marR="0" rtl="0" algn="l">
              <a:lnSpc>
                <a:spcPct val="115000"/>
              </a:lnSpc>
              <a:spcBef>
                <a:spcPts val="300"/>
              </a:spcBef>
              <a:spcAft>
                <a:spcPts val="0"/>
              </a:spcAft>
              <a:buClr>
                <a:srgbClr val="C5A55A"/>
              </a:buClr>
              <a:buSzPts val="1150"/>
              <a:buFont typeface="Calibri"/>
              <a:buAutoNum type="arabicPeriod"/>
            </a:pPr>
            <a:r>
              <a:rPr b="1" lang="en-US" sz="1150">
                <a:solidFill>
                  <a:srgbClr val="C5A55A"/>
                </a:solidFill>
                <a:latin typeface="Calibri"/>
                <a:ea typeface="Calibri"/>
                <a:cs typeface="Calibri"/>
                <a:sym typeface="Calibri"/>
              </a:rPr>
              <a:t>▪  </a:t>
            </a:r>
            <a:r>
              <a:rPr lang="en-US" sz="1150">
                <a:solidFill>
                  <a:srgbClr val="3A3530"/>
                </a:solidFill>
                <a:latin typeface="Calibri"/>
                <a:ea typeface="Calibri"/>
                <a:cs typeface="Calibri"/>
                <a:sym typeface="Calibri"/>
              </a:rPr>
              <a:t>Được khuyến nghị bởi Cơ quan Lãnh sự Mỹ – Anh – Úc</a:t>
            </a:r>
            <a:endParaRPr sz="1150">
              <a:solidFill>
                <a:srgbClr val="3A3530"/>
              </a:solidFill>
              <a:latin typeface="Calibri"/>
              <a:ea typeface="Calibri"/>
              <a:cs typeface="Calibri"/>
              <a:sym typeface="Calibri"/>
            </a:endParaRPr>
          </a:p>
          <a:p>
            <a:pPr indent="-228600" lvl="0" marL="228600" marR="0" rtl="0" algn="l">
              <a:lnSpc>
                <a:spcPct val="115000"/>
              </a:lnSpc>
              <a:spcBef>
                <a:spcPts val="300"/>
              </a:spcBef>
              <a:spcAft>
                <a:spcPts val="0"/>
              </a:spcAft>
              <a:buClr>
                <a:srgbClr val="C5A55A"/>
              </a:buClr>
              <a:buSzPts val="1150"/>
              <a:buFont typeface="Calibri"/>
              <a:buAutoNum type="arabicPeriod"/>
            </a:pPr>
            <a:r>
              <a:rPr b="1" lang="en-US" sz="1150">
                <a:solidFill>
                  <a:srgbClr val="C5A55A"/>
                </a:solidFill>
                <a:latin typeface="Calibri"/>
                <a:ea typeface="Calibri"/>
                <a:cs typeface="Calibri"/>
                <a:sym typeface="Calibri"/>
              </a:rPr>
              <a:t>▪  </a:t>
            </a:r>
            <a:r>
              <a:rPr lang="en-US" sz="1150">
                <a:solidFill>
                  <a:srgbClr val="3A3530"/>
                </a:solidFill>
                <a:latin typeface="Calibri"/>
                <a:ea typeface="Calibri"/>
                <a:cs typeface="Calibri"/>
                <a:sym typeface="Calibri"/>
              </a:rPr>
              <a:t>02 bằng khen Bộ Tư lệnh &amp; 05 giải thưởng uy tín trong ngành</a:t>
            </a:r>
            <a:endParaRPr sz="1150">
              <a:solidFill>
                <a:srgbClr val="3A3530"/>
              </a:solidFill>
              <a:latin typeface="Calibri"/>
              <a:ea typeface="Calibri"/>
              <a:cs typeface="Calibri"/>
              <a:sym typeface="Calibri"/>
            </a:endParaRPr>
          </a:p>
          <a:p>
            <a:pPr indent="-228600" lvl="0" marL="228600" marR="0" rtl="0" algn="l">
              <a:lnSpc>
                <a:spcPct val="115000"/>
              </a:lnSpc>
              <a:spcBef>
                <a:spcPts val="300"/>
              </a:spcBef>
              <a:spcAft>
                <a:spcPts val="0"/>
              </a:spcAft>
              <a:buClr>
                <a:srgbClr val="C5A55A"/>
              </a:buClr>
              <a:buSzPts val="1150"/>
              <a:buFont typeface="Calibri"/>
              <a:buAutoNum type="arabicPeriod"/>
            </a:pPr>
            <a:r>
              <a:rPr b="1" lang="en-US" sz="1150">
                <a:solidFill>
                  <a:srgbClr val="C5A55A"/>
                </a:solidFill>
                <a:latin typeface="Calibri"/>
                <a:ea typeface="Calibri"/>
                <a:cs typeface="Calibri"/>
                <a:sym typeface="Calibri"/>
              </a:rPr>
              <a:t>▪  </a:t>
            </a:r>
            <a:r>
              <a:rPr lang="en-US" sz="1150">
                <a:solidFill>
                  <a:srgbClr val="3A3530"/>
                </a:solidFill>
                <a:latin typeface="Calibri"/>
                <a:ea typeface="Calibri"/>
                <a:cs typeface="Calibri"/>
                <a:sym typeface="Calibri"/>
              </a:rPr>
              <a:t>Không tăng giá trong suốt 5 năm qua – cam kết giá cả minh bạch</a:t>
            </a:r>
            <a:endParaRPr sz="1150">
              <a:solidFill>
                <a:srgbClr val="3A3530"/>
              </a:solidFill>
              <a:latin typeface="Calibri"/>
              <a:ea typeface="Calibri"/>
              <a:cs typeface="Calibri"/>
              <a:sym typeface="Calibri"/>
            </a:endParaRPr>
          </a:p>
          <a:p>
            <a:pPr indent="-228600" lvl="0" marL="228600" marR="0" rtl="0" algn="l">
              <a:lnSpc>
                <a:spcPct val="115000"/>
              </a:lnSpc>
              <a:spcBef>
                <a:spcPts val="300"/>
              </a:spcBef>
              <a:spcAft>
                <a:spcPts val="0"/>
              </a:spcAft>
              <a:buClr>
                <a:srgbClr val="C5A55A"/>
              </a:buClr>
              <a:buSzPts val="1150"/>
              <a:buFont typeface="Calibri"/>
              <a:buAutoNum type="arabicPeriod"/>
            </a:pPr>
            <a:r>
              <a:rPr b="1" lang="en-US" sz="1150">
                <a:solidFill>
                  <a:srgbClr val="C5A55A"/>
                </a:solidFill>
                <a:latin typeface="Calibri"/>
                <a:ea typeface="Calibri"/>
                <a:cs typeface="Calibri"/>
                <a:sym typeface="Calibri"/>
              </a:rPr>
              <a:t>▪  </a:t>
            </a:r>
            <a:r>
              <a:rPr lang="en-US" sz="1150">
                <a:solidFill>
                  <a:srgbClr val="3A3530"/>
                </a:solidFill>
                <a:latin typeface="Calibri"/>
                <a:ea typeface="Calibri"/>
                <a:cs typeface="Calibri"/>
                <a:sym typeface="Calibri"/>
              </a:rPr>
              <a:t>Hệ sinh thái hữu sự toàn diện: DVTL + Sala Garden + Kim Care</a:t>
            </a:r>
            <a:endParaRPr/>
          </a:p>
        </p:txBody>
      </p:sp>
      <p:sp>
        <p:nvSpPr>
          <p:cNvPr id="369" name="Google Shape;369;p11"/>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 name="Google Shape;370;p11"/>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Khác biệt cốt lõi đến từ quy mô, triết lý phục vụ Omotenashi và niềm tin tích luỹ</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2"/>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6" name="Google Shape;376;p12"/>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377" name="Google Shape;377;p12"/>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VÌ SAO KHÁCH HÀNG CẦN</a:t>
            </a:r>
            <a:endParaRPr/>
          </a:p>
        </p:txBody>
      </p:sp>
      <p:sp>
        <p:nvSpPr>
          <p:cNvPr id="378" name="Google Shape;378;p12"/>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Pain points và lợi ích khi tham gia hội viên</a:t>
            </a:r>
            <a:endParaRPr/>
          </a:p>
        </p:txBody>
      </p:sp>
      <p:cxnSp>
        <p:nvCxnSpPr>
          <p:cNvPr id="379" name="Google Shape;379;p12"/>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380" name="Google Shape;380;p12"/>
          <p:cNvSpPr/>
          <p:nvPr/>
        </p:nvSpPr>
        <p:spPr>
          <a:xfrm>
            <a:off x="548640" y="1691640"/>
            <a:ext cx="5440680" cy="4480560"/>
          </a:xfrm>
          <a:prstGeom prst="roundRect">
            <a:avLst>
              <a:gd fmla="val 8000" name="adj"/>
            </a:avLst>
          </a:prstGeom>
          <a:solidFill>
            <a:srgbClr val="F5F0EB"/>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 name="Google Shape;381;p12"/>
          <p:cNvSpPr/>
          <p:nvPr/>
        </p:nvSpPr>
        <p:spPr>
          <a:xfrm>
            <a:off x="548640" y="1691640"/>
            <a:ext cx="5440680" cy="384048"/>
          </a:xfrm>
          <a:prstGeom prst="roundRect">
            <a:avLst>
              <a:gd fmla="val 12000" name="adj"/>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2" name="Google Shape;382;p12"/>
          <p:cNvSpPr txBox="1"/>
          <p:nvPr/>
        </p:nvSpPr>
        <p:spPr>
          <a:xfrm>
            <a:off x="685800" y="1737360"/>
            <a:ext cx="5166360" cy="384048"/>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PAIN POINTS  —  NỖI LO CỦA KHÁCH HÀNG</a:t>
            </a:r>
            <a:endParaRPr/>
          </a:p>
        </p:txBody>
      </p:sp>
      <p:sp>
        <p:nvSpPr>
          <p:cNvPr id="383" name="Google Shape;383;p12"/>
          <p:cNvSpPr txBox="1"/>
          <p:nvPr/>
        </p:nvSpPr>
        <p:spPr>
          <a:xfrm>
            <a:off x="685800" y="2148840"/>
            <a:ext cx="5166360" cy="1337610"/>
          </a:xfrm>
          <a:prstGeom prst="rect">
            <a:avLst/>
          </a:prstGeom>
          <a:noFill/>
          <a:ln>
            <a:noFill/>
          </a:ln>
        </p:spPr>
        <p:txBody>
          <a:bodyPr anchorCtr="0" anchor="t" bIns="45700" lIns="0" spcFirstLastPara="1" rIns="91425" wrap="square" tIns="0">
            <a:spAutoFit/>
          </a:bodyPr>
          <a:lstStyle/>
          <a:p>
            <a:pPr indent="-228600" lvl="0" marL="228600" marR="0" rtl="0" algn="l">
              <a:lnSpc>
                <a:spcPct val="112000"/>
              </a:lnSpc>
              <a:spcBef>
                <a:spcPts val="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Gia đình ít thành viên, gánh nặng khi cha mẹ trăm tuổi rất lớn</a:t>
            </a:r>
            <a:endParaRPr sz="950">
              <a:solidFill>
                <a:srgbClr val="3A3530"/>
              </a:solidFill>
              <a:latin typeface="Calibri"/>
              <a:ea typeface="Calibri"/>
              <a:cs typeface="Calibri"/>
              <a:sym typeface="Calibri"/>
            </a:endParaRPr>
          </a:p>
          <a:p>
            <a:pPr indent="-228600" lvl="0" marL="228600" marR="0" rtl="0" algn="l">
              <a:lnSpc>
                <a:spcPct val="112000"/>
              </a:lnSpc>
              <a:spcBef>
                <a:spcPts val="20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Việc hậu sự không biết khi nào sẽ tới – cần chuẩn bị dài hạn</a:t>
            </a:r>
            <a:endParaRPr sz="950">
              <a:solidFill>
                <a:srgbClr val="3A3530"/>
              </a:solidFill>
              <a:latin typeface="Calibri"/>
              <a:ea typeface="Calibri"/>
              <a:cs typeface="Calibri"/>
              <a:sym typeface="Calibri"/>
            </a:endParaRPr>
          </a:p>
          <a:p>
            <a:pPr indent="-228600" lvl="0" marL="228600" marR="0" rtl="0" algn="l">
              <a:lnSpc>
                <a:spcPct val="112000"/>
              </a:lnSpc>
              <a:spcBef>
                <a:spcPts val="20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Việc hậu sự phức tạp, cần người có kinh nghiệm hỗ trợ chu toàn</a:t>
            </a:r>
            <a:endParaRPr sz="950">
              <a:solidFill>
                <a:srgbClr val="3A3530"/>
              </a:solidFill>
              <a:latin typeface="Calibri"/>
              <a:ea typeface="Calibri"/>
              <a:cs typeface="Calibri"/>
              <a:sym typeface="Calibri"/>
            </a:endParaRPr>
          </a:p>
          <a:p>
            <a:pPr indent="-228600" lvl="0" marL="228600" marR="0" rtl="0" algn="l">
              <a:lnSpc>
                <a:spcPct val="112000"/>
              </a:lnSpc>
              <a:spcBef>
                <a:spcPts val="20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Chi phí chuẩn bị ngày càng cao, dễ bị trục lợi khi bối rối</a:t>
            </a:r>
            <a:endParaRPr sz="950">
              <a:solidFill>
                <a:srgbClr val="3A3530"/>
              </a:solidFill>
              <a:latin typeface="Calibri"/>
              <a:ea typeface="Calibri"/>
              <a:cs typeface="Calibri"/>
              <a:sym typeface="Calibri"/>
            </a:endParaRPr>
          </a:p>
          <a:p>
            <a:pPr indent="-228600" lvl="0" marL="228600" marR="0" rtl="0" algn="l">
              <a:lnSpc>
                <a:spcPct val="112000"/>
              </a:lnSpc>
              <a:spcBef>
                <a:spcPts val="20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Gia đình dễ tranh cãi trong đau buồn: làm lớn hay nhỏ, nghi thức nào</a:t>
            </a:r>
            <a:endParaRPr/>
          </a:p>
          <a:p>
            <a:pPr indent="-228600" lvl="0" marL="228600" marR="0" rtl="0" algn="l">
              <a:lnSpc>
                <a:spcPct val="112000"/>
              </a:lnSpc>
              <a:spcBef>
                <a:spcPts val="20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Khi cần gấp dễ bị ép giá hoặc chọn dịch vụ chắp vá</a:t>
            </a:r>
            <a:endParaRPr sz="950">
              <a:solidFill>
                <a:srgbClr val="3A3530"/>
              </a:solidFill>
              <a:latin typeface="Calibri"/>
              <a:ea typeface="Calibri"/>
              <a:cs typeface="Calibri"/>
              <a:sym typeface="Calibri"/>
            </a:endParaRPr>
          </a:p>
          <a:p>
            <a:pPr indent="-228600" lvl="0" marL="228600" marR="0" rtl="0" algn="l">
              <a:lnSpc>
                <a:spcPct val="112000"/>
              </a:lnSpc>
              <a:spcBef>
                <a:spcPts val="20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Không ai đủ tỉnh táo quyết định chi phí lớn trong vài giờ</a:t>
            </a:r>
            <a:endParaRPr/>
          </a:p>
        </p:txBody>
      </p:sp>
      <p:sp>
        <p:nvSpPr>
          <p:cNvPr id="384" name="Google Shape;384;p12"/>
          <p:cNvSpPr/>
          <p:nvPr/>
        </p:nvSpPr>
        <p:spPr>
          <a:xfrm>
            <a:off x="6199632" y="1691640"/>
            <a:ext cx="5440680" cy="4480560"/>
          </a:xfrm>
          <a:prstGeom prst="roundRect">
            <a:avLst>
              <a:gd fmla="val 8000" name="adj"/>
            </a:avLst>
          </a:prstGeom>
          <a:solidFill>
            <a:srgbClr val="F5F0EB"/>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 name="Google Shape;385;p12"/>
          <p:cNvSpPr/>
          <p:nvPr/>
        </p:nvSpPr>
        <p:spPr>
          <a:xfrm>
            <a:off x="6199632" y="1691640"/>
            <a:ext cx="5440680" cy="384048"/>
          </a:xfrm>
          <a:prstGeom prst="roundRect">
            <a:avLst>
              <a:gd fmla="val 12000" name="adj"/>
            </a:avLst>
          </a:prstGeom>
          <a:solidFill>
            <a:srgbClr val="C5A5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 name="Google Shape;386;p12"/>
          <p:cNvSpPr txBox="1"/>
          <p:nvPr/>
        </p:nvSpPr>
        <p:spPr>
          <a:xfrm>
            <a:off x="6336792" y="1737360"/>
            <a:ext cx="5166360" cy="384048"/>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3A3530"/>
                </a:solidFill>
                <a:latin typeface="Montserrat"/>
                <a:ea typeface="Montserrat"/>
                <a:cs typeface="Montserrat"/>
                <a:sym typeface="Montserrat"/>
              </a:rPr>
              <a:t>BENEFITS  —  LỢI ÍCH KHI THAM GIA HỘI VIÊN</a:t>
            </a:r>
            <a:endParaRPr/>
          </a:p>
        </p:txBody>
      </p:sp>
      <p:sp>
        <p:nvSpPr>
          <p:cNvPr id="387" name="Google Shape;387;p12"/>
          <p:cNvSpPr txBox="1"/>
          <p:nvPr/>
        </p:nvSpPr>
        <p:spPr>
          <a:xfrm>
            <a:off x="6336792" y="2148840"/>
            <a:ext cx="5166360" cy="1337610"/>
          </a:xfrm>
          <a:prstGeom prst="rect">
            <a:avLst/>
          </a:prstGeom>
          <a:noFill/>
          <a:ln>
            <a:noFill/>
          </a:ln>
        </p:spPr>
        <p:txBody>
          <a:bodyPr anchorCtr="0" anchor="t" bIns="45700" lIns="0" spcFirstLastPara="1" rIns="91425" wrap="square" tIns="0">
            <a:spAutoFit/>
          </a:bodyPr>
          <a:lstStyle/>
          <a:p>
            <a:pPr indent="-228600" lvl="0" marL="228600" marR="0" rtl="0" algn="l">
              <a:lnSpc>
                <a:spcPct val="112000"/>
              </a:lnSpc>
              <a:spcBef>
                <a:spcPts val="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Khoá chi phí chỉ từ 2 triệu đồng – tiết kiệm 10-50 triệu so với mua gấp</a:t>
            </a:r>
            <a:endParaRPr sz="950">
              <a:solidFill>
                <a:srgbClr val="3A3530"/>
              </a:solidFill>
              <a:latin typeface="Calibri"/>
              <a:ea typeface="Calibri"/>
              <a:cs typeface="Calibri"/>
              <a:sym typeface="Calibri"/>
            </a:endParaRPr>
          </a:p>
          <a:p>
            <a:pPr indent="-228600" lvl="0" marL="228600" marR="0" rtl="0" algn="l">
              <a:lnSpc>
                <a:spcPct val="112000"/>
              </a:lnSpc>
              <a:spcBef>
                <a:spcPts val="20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Đội ngũ chuyên viên giàu kinh nghiệm đồng hành lập kế hoạch tang lễ</a:t>
            </a:r>
            <a:endParaRPr sz="950">
              <a:solidFill>
                <a:srgbClr val="3A3530"/>
              </a:solidFill>
              <a:latin typeface="Calibri"/>
              <a:ea typeface="Calibri"/>
              <a:cs typeface="Calibri"/>
              <a:sym typeface="Calibri"/>
            </a:endParaRPr>
          </a:p>
          <a:p>
            <a:pPr indent="-228600" lvl="0" marL="228600" marR="0" rtl="0" algn="l">
              <a:lnSpc>
                <a:spcPct val="112000"/>
              </a:lnSpc>
              <a:spcBef>
                <a:spcPts val="20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10 năm quyền lợi – chỗ dựa vững chắc cho gia đình trong dài hạn</a:t>
            </a:r>
            <a:endParaRPr sz="950">
              <a:solidFill>
                <a:srgbClr val="3A3530"/>
              </a:solidFill>
              <a:latin typeface="Calibri"/>
              <a:ea typeface="Calibri"/>
              <a:cs typeface="Calibri"/>
              <a:sym typeface="Calibri"/>
            </a:endParaRPr>
          </a:p>
          <a:p>
            <a:pPr indent="-228600" lvl="0" marL="228600" marR="0" rtl="0" algn="l">
              <a:lnSpc>
                <a:spcPct val="112000"/>
              </a:lnSpc>
              <a:spcBef>
                <a:spcPts val="20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b="1" lang="en-US" sz="950" u="sng">
                <a:solidFill>
                  <a:srgbClr val="3A3530"/>
                </a:solidFill>
                <a:latin typeface="Calibri"/>
                <a:ea typeface="Calibri"/>
                <a:cs typeface="Calibri"/>
                <a:sym typeface="Calibri"/>
              </a:rPr>
              <a:t>Khách hàng chủ động quyết định – không để người thân quyết trong đau buồn</a:t>
            </a:r>
            <a:endParaRPr b="1" sz="950" u="sng">
              <a:solidFill>
                <a:srgbClr val="3A3530"/>
              </a:solidFill>
              <a:latin typeface="Calibri"/>
              <a:ea typeface="Calibri"/>
              <a:cs typeface="Calibri"/>
              <a:sym typeface="Calibri"/>
            </a:endParaRPr>
          </a:p>
          <a:p>
            <a:pPr indent="-228600" lvl="0" marL="228600" marR="0" rtl="0" algn="l">
              <a:lnSpc>
                <a:spcPct val="112000"/>
              </a:lnSpc>
              <a:spcBef>
                <a:spcPts val="200"/>
              </a:spcBef>
              <a:spcAft>
                <a:spcPts val="0"/>
              </a:spcAft>
              <a:buClr>
                <a:srgbClr val="C5A55A"/>
              </a:buClr>
              <a:buSzPts val="950"/>
              <a:buFont typeface="Calibri"/>
              <a:buAutoNum type="arabicPeriod"/>
            </a:pPr>
            <a:r>
              <a:rPr lang="en-US" sz="950">
                <a:solidFill>
                  <a:srgbClr val="C5A55A"/>
                </a:solidFill>
                <a:latin typeface="Calibri"/>
                <a:ea typeface="Calibri"/>
                <a:cs typeface="Calibri"/>
                <a:sym typeface="Calibri"/>
              </a:rPr>
              <a:t>▪  </a:t>
            </a:r>
            <a:r>
              <a:rPr b="1" lang="en-US" sz="950" u="sng">
                <a:solidFill>
                  <a:srgbClr val="3A3530"/>
                </a:solidFill>
                <a:latin typeface="Calibri"/>
                <a:ea typeface="Calibri"/>
                <a:cs typeface="Calibri"/>
                <a:sym typeface="Calibri"/>
              </a:rPr>
              <a:t>Tránh xung đột gia đình – tất cả đã có kế hoạch sẵn</a:t>
            </a:r>
            <a:endParaRPr b="1" sz="950" u="sng">
              <a:solidFill>
                <a:srgbClr val="3A3530"/>
              </a:solidFill>
              <a:latin typeface="Calibri"/>
              <a:ea typeface="Calibri"/>
              <a:cs typeface="Calibri"/>
              <a:sym typeface="Calibri"/>
            </a:endParaRPr>
          </a:p>
          <a:p>
            <a:pPr indent="-228600" lvl="0" marL="228600" marR="0" rtl="0" algn="l">
              <a:lnSpc>
                <a:spcPct val="112000"/>
              </a:lnSpc>
              <a:spcBef>
                <a:spcPts val="20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Dịch vụ chuẩn – đồng bộ – quy trình rõ ràng, không chắp vá</a:t>
            </a:r>
            <a:endParaRPr sz="950">
              <a:solidFill>
                <a:srgbClr val="3A3530"/>
              </a:solidFill>
              <a:latin typeface="Calibri"/>
              <a:ea typeface="Calibri"/>
              <a:cs typeface="Calibri"/>
              <a:sym typeface="Calibri"/>
            </a:endParaRPr>
          </a:p>
          <a:p>
            <a:pPr indent="-228600" lvl="0" marL="228600" marR="0" rtl="0" algn="l">
              <a:lnSpc>
                <a:spcPct val="112000"/>
              </a:lnSpc>
              <a:spcBef>
                <a:spcPts val="200"/>
              </a:spcBef>
              <a:spcAft>
                <a:spcPts val="0"/>
              </a:spcAft>
              <a:buClr>
                <a:srgbClr val="C5A55A"/>
              </a:buClr>
              <a:buSzPts val="950"/>
              <a:buFont typeface="Calibri"/>
              <a:buAutoNum type="arabicPeriod"/>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Ưu tiên hỗ trợ nhanh, chu đáo, giá cả minh bạch</a:t>
            </a:r>
            <a:endParaRPr sz="950">
              <a:solidFill>
                <a:srgbClr val="3A3530"/>
              </a:solidFill>
              <a:latin typeface="Calibri"/>
              <a:ea typeface="Calibri"/>
              <a:cs typeface="Calibri"/>
              <a:sym typeface="Calibri"/>
            </a:endParaRPr>
          </a:p>
        </p:txBody>
      </p:sp>
      <p:sp>
        <p:nvSpPr>
          <p:cNvPr id="388" name="Google Shape;388;p12"/>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9" name="Google Shape;389;p12"/>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Bán hội viên không bằng logic – bán bằng nỗi lo và trách nhiệm với gia đình</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13"/>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5" name="Google Shape;395;p13"/>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396" name="Google Shape;396;p13"/>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KỊCH BẢN CHỐT CỌC 5 PHÚT</a:t>
            </a:r>
            <a:endParaRPr/>
          </a:p>
        </p:txBody>
      </p:sp>
      <p:sp>
        <p:nvSpPr>
          <p:cNvPr id="397" name="Google Shape;397;p13"/>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Quy trình thực chiến cho đội ngũ Sales &amp; CTV</a:t>
            </a:r>
            <a:endParaRPr/>
          </a:p>
        </p:txBody>
      </p:sp>
      <p:cxnSp>
        <p:nvCxnSpPr>
          <p:cNvPr id="398" name="Google Shape;398;p13"/>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399" name="Google Shape;399;p13"/>
          <p:cNvSpPr/>
          <p:nvPr/>
        </p:nvSpPr>
        <p:spPr>
          <a:xfrm>
            <a:off x="548640" y="1737360"/>
            <a:ext cx="11091672" cy="77724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0" name="Google Shape;400;p13"/>
          <p:cNvSpPr txBox="1"/>
          <p:nvPr/>
        </p:nvSpPr>
        <p:spPr>
          <a:xfrm>
            <a:off x="685800" y="1828800"/>
            <a:ext cx="1371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00:00 – 01:00</a:t>
            </a:r>
            <a:endParaRPr/>
          </a:p>
        </p:txBody>
      </p:sp>
      <p:sp>
        <p:nvSpPr>
          <p:cNvPr id="401" name="Google Shape;401;p13"/>
          <p:cNvSpPr txBox="1"/>
          <p:nvPr/>
        </p:nvSpPr>
        <p:spPr>
          <a:xfrm>
            <a:off x="2194560" y="1828800"/>
            <a:ext cx="29260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A3530"/>
                </a:solidFill>
                <a:latin typeface="Montserrat"/>
                <a:ea typeface="Montserrat"/>
                <a:cs typeface="Montserrat"/>
                <a:sym typeface="Montserrat"/>
              </a:rPr>
              <a:t>GỢI MỞ NỖI ĐAU</a:t>
            </a:r>
            <a:endParaRPr/>
          </a:p>
        </p:txBody>
      </p:sp>
      <p:sp>
        <p:nvSpPr>
          <p:cNvPr id="402" name="Google Shape;402;p13"/>
          <p:cNvSpPr txBox="1"/>
          <p:nvPr/>
        </p:nvSpPr>
        <p:spPr>
          <a:xfrm>
            <a:off x="5212080" y="1828800"/>
            <a:ext cx="635508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950">
                <a:solidFill>
                  <a:srgbClr val="5A5040"/>
                </a:solidFill>
                <a:latin typeface="Calibri"/>
                <a:ea typeface="Calibri"/>
                <a:cs typeface="Calibri"/>
                <a:sym typeface="Calibri"/>
              </a:rPr>
              <a:t>“Anh/chị có bao giờ nghĩ, nếu có chuyện xảy ra bất ngờ, gia đình mình sẽ xoay xở trong bao lâu không?”  Đa số gia đình rơi vào trạng thái sốc &amp; phải quyết định chi phí lớn trong vài giờ.</a:t>
            </a:r>
            <a:endParaRPr/>
          </a:p>
        </p:txBody>
      </p:sp>
      <p:sp>
        <p:nvSpPr>
          <p:cNvPr id="403" name="Google Shape;403;p13"/>
          <p:cNvSpPr/>
          <p:nvPr/>
        </p:nvSpPr>
        <p:spPr>
          <a:xfrm>
            <a:off x="548640" y="2578608"/>
            <a:ext cx="11091672" cy="77724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4" name="Google Shape;404;p13"/>
          <p:cNvSpPr txBox="1"/>
          <p:nvPr/>
        </p:nvSpPr>
        <p:spPr>
          <a:xfrm>
            <a:off x="685800" y="2670048"/>
            <a:ext cx="1371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01:00 – 02:00</a:t>
            </a:r>
            <a:endParaRPr/>
          </a:p>
        </p:txBody>
      </p:sp>
      <p:sp>
        <p:nvSpPr>
          <p:cNvPr id="405" name="Google Shape;405;p13"/>
          <p:cNvSpPr txBox="1"/>
          <p:nvPr/>
        </p:nvSpPr>
        <p:spPr>
          <a:xfrm>
            <a:off x="2194560" y="2670048"/>
            <a:ext cx="29260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A3530"/>
                </a:solidFill>
                <a:latin typeface="Montserrat"/>
                <a:ea typeface="Montserrat"/>
                <a:cs typeface="Montserrat"/>
                <a:sym typeface="Montserrat"/>
              </a:rPr>
              <a:t>KHUẾCH ĐẠI VẤN ĐỀ</a:t>
            </a:r>
            <a:endParaRPr/>
          </a:p>
        </p:txBody>
      </p:sp>
      <p:sp>
        <p:nvSpPr>
          <p:cNvPr id="406" name="Google Shape;406;p13"/>
          <p:cNvSpPr txBox="1"/>
          <p:nvPr/>
        </p:nvSpPr>
        <p:spPr>
          <a:xfrm>
            <a:off x="5212080" y="2670048"/>
            <a:ext cx="635508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950">
                <a:solidFill>
                  <a:srgbClr val="5A5040"/>
                </a:solidFill>
                <a:latin typeface="Calibri"/>
                <a:ea typeface="Calibri"/>
                <a:cs typeface="Calibri"/>
                <a:sym typeface="Calibri"/>
              </a:rPr>
              <a:t>Một đám tang hiện tại có thể từ 50–100 triệu và thường quyết định rất vội. Không ai đủ tỉnh táo để chọn đúng – vừa tốn tiền, vừa áp lực.</a:t>
            </a:r>
            <a:endParaRPr/>
          </a:p>
        </p:txBody>
      </p:sp>
      <p:sp>
        <p:nvSpPr>
          <p:cNvPr id="407" name="Google Shape;407;p13"/>
          <p:cNvSpPr/>
          <p:nvPr/>
        </p:nvSpPr>
        <p:spPr>
          <a:xfrm>
            <a:off x="548640" y="3419856"/>
            <a:ext cx="11091672" cy="77724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8" name="Google Shape;408;p13"/>
          <p:cNvSpPr txBox="1"/>
          <p:nvPr/>
        </p:nvSpPr>
        <p:spPr>
          <a:xfrm>
            <a:off x="685800" y="3511296"/>
            <a:ext cx="1371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02:00 – 03:00</a:t>
            </a:r>
            <a:endParaRPr/>
          </a:p>
        </p:txBody>
      </p:sp>
      <p:sp>
        <p:nvSpPr>
          <p:cNvPr id="409" name="Google Shape;409;p13"/>
          <p:cNvSpPr txBox="1"/>
          <p:nvPr/>
        </p:nvSpPr>
        <p:spPr>
          <a:xfrm>
            <a:off x="2194560" y="3511296"/>
            <a:ext cx="29260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A3530"/>
                </a:solidFill>
                <a:latin typeface="Montserrat"/>
                <a:ea typeface="Montserrat"/>
                <a:cs typeface="Montserrat"/>
                <a:sym typeface="Montserrat"/>
              </a:rPr>
              <a:t>ĐƯA GIẢI PHÁP</a:t>
            </a:r>
            <a:endParaRPr/>
          </a:p>
        </p:txBody>
      </p:sp>
      <p:sp>
        <p:nvSpPr>
          <p:cNvPr id="410" name="Google Shape;410;p13"/>
          <p:cNvSpPr txBox="1"/>
          <p:nvPr/>
        </p:nvSpPr>
        <p:spPr>
          <a:xfrm>
            <a:off x="5212080" y="3511296"/>
            <a:ext cx="635508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950">
                <a:solidFill>
                  <a:srgbClr val="5A5040"/>
                </a:solidFill>
                <a:latin typeface="Calibri"/>
                <a:ea typeface="Calibri"/>
                <a:cs typeface="Calibri"/>
                <a:sym typeface="Calibri"/>
              </a:rPr>
              <a:t>Chương trình Hội Viên Trăm Tuổi – chỉ từ 2 triệu đồng để khoá chi phí, chuẩn bị trước toàn bộ, gia đình chỉ cần gọi 1 số là có người lo.</a:t>
            </a:r>
            <a:endParaRPr/>
          </a:p>
        </p:txBody>
      </p:sp>
      <p:sp>
        <p:nvSpPr>
          <p:cNvPr id="411" name="Google Shape;411;p13"/>
          <p:cNvSpPr/>
          <p:nvPr/>
        </p:nvSpPr>
        <p:spPr>
          <a:xfrm>
            <a:off x="548640" y="4261104"/>
            <a:ext cx="11091672" cy="77724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2" name="Google Shape;412;p13"/>
          <p:cNvSpPr txBox="1"/>
          <p:nvPr/>
        </p:nvSpPr>
        <p:spPr>
          <a:xfrm>
            <a:off x="685800" y="4352544"/>
            <a:ext cx="1371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03:00 – 04:00</a:t>
            </a:r>
            <a:endParaRPr/>
          </a:p>
        </p:txBody>
      </p:sp>
      <p:sp>
        <p:nvSpPr>
          <p:cNvPr id="413" name="Google Shape;413;p13"/>
          <p:cNvSpPr txBox="1"/>
          <p:nvPr/>
        </p:nvSpPr>
        <p:spPr>
          <a:xfrm>
            <a:off x="2194560" y="4352544"/>
            <a:ext cx="29260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A3530"/>
                </a:solidFill>
                <a:latin typeface="Montserrat"/>
                <a:ea typeface="Montserrat"/>
                <a:cs typeface="Montserrat"/>
                <a:sym typeface="Montserrat"/>
              </a:rPr>
              <a:t>REASON TO BUY</a:t>
            </a:r>
            <a:endParaRPr/>
          </a:p>
        </p:txBody>
      </p:sp>
      <p:sp>
        <p:nvSpPr>
          <p:cNvPr id="414" name="Google Shape;414;p13"/>
          <p:cNvSpPr txBox="1"/>
          <p:nvPr/>
        </p:nvSpPr>
        <p:spPr>
          <a:xfrm>
            <a:off x="5212080" y="4352544"/>
            <a:ext cx="635508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950">
                <a:solidFill>
                  <a:srgbClr val="5A5040"/>
                </a:solidFill>
                <a:latin typeface="Calibri"/>
                <a:ea typeface="Calibri"/>
                <a:cs typeface="Calibri"/>
                <a:sym typeface="Calibri"/>
              </a:rPr>
              <a:t>“Quan trọng nhất không phải là giá – mà là anh/chị mua khi còn chủ động, hay để lúc gia đình phải quyết định trong đau buồn.”  (Ngắt 1 nhịp)</a:t>
            </a:r>
            <a:endParaRPr/>
          </a:p>
        </p:txBody>
      </p:sp>
      <p:sp>
        <p:nvSpPr>
          <p:cNvPr id="415" name="Google Shape;415;p13"/>
          <p:cNvSpPr/>
          <p:nvPr/>
        </p:nvSpPr>
        <p:spPr>
          <a:xfrm>
            <a:off x="548640" y="5102352"/>
            <a:ext cx="11091672" cy="77724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 name="Google Shape;416;p13"/>
          <p:cNvSpPr txBox="1"/>
          <p:nvPr/>
        </p:nvSpPr>
        <p:spPr>
          <a:xfrm>
            <a:off x="685800" y="5193792"/>
            <a:ext cx="13716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04:00 – 05:00</a:t>
            </a:r>
            <a:endParaRPr/>
          </a:p>
        </p:txBody>
      </p:sp>
      <p:sp>
        <p:nvSpPr>
          <p:cNvPr id="417" name="Google Shape;417;p13"/>
          <p:cNvSpPr txBox="1"/>
          <p:nvPr/>
        </p:nvSpPr>
        <p:spPr>
          <a:xfrm>
            <a:off x="2194560" y="5193792"/>
            <a:ext cx="292608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A3530"/>
                </a:solidFill>
                <a:latin typeface="Montserrat"/>
                <a:ea typeface="Montserrat"/>
                <a:cs typeface="Montserrat"/>
                <a:sym typeface="Montserrat"/>
              </a:rPr>
              <a:t>CHỐT NHẸ – KHÔNG ÁP LỰC</a:t>
            </a:r>
            <a:endParaRPr/>
          </a:p>
        </p:txBody>
      </p:sp>
      <p:sp>
        <p:nvSpPr>
          <p:cNvPr id="418" name="Google Shape;418;p13"/>
          <p:cNvSpPr txBox="1"/>
          <p:nvPr/>
        </p:nvSpPr>
        <p:spPr>
          <a:xfrm>
            <a:off x="5212080" y="5193792"/>
            <a:ext cx="635508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950">
                <a:solidFill>
                  <a:srgbClr val="5A5040"/>
                </a:solidFill>
                <a:latin typeface="Calibri"/>
                <a:ea typeface="Calibri"/>
                <a:cs typeface="Calibri"/>
                <a:sym typeface="Calibri"/>
              </a:rPr>
              <a:t>“Chi phí rất nhỏ, nhưng giá trị là giảm gánh nặng cho cả gia đình.”  Nếu khách thấy hợp lý → giữ suất hội viên hôm nay, làm hợp đồng rõ ràng.</a:t>
            </a:r>
            <a:endParaRPr/>
          </a:p>
        </p:txBody>
      </p:sp>
      <p:sp>
        <p:nvSpPr>
          <p:cNvPr id="419" name="Google Shape;419;p13"/>
          <p:cNvSpPr/>
          <p:nvPr/>
        </p:nvSpPr>
        <p:spPr>
          <a:xfrm>
            <a:off x="548640" y="5989320"/>
            <a:ext cx="11091672" cy="274320"/>
          </a:xfrm>
          <a:prstGeom prst="roundRect">
            <a:avLst>
              <a:gd fmla="val 8000" name="adj"/>
            </a:avLst>
          </a:prstGeom>
          <a:solidFill>
            <a:srgbClr val="E8D9B0"/>
          </a:solidFill>
          <a:ln cap="flat" cmpd="sng" w="9525">
            <a:solidFill>
              <a:srgbClr val="C5A55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 name="Google Shape;420;p13"/>
          <p:cNvSpPr txBox="1"/>
          <p:nvPr/>
        </p:nvSpPr>
        <p:spPr>
          <a:xfrm>
            <a:off x="685800" y="6016752"/>
            <a:ext cx="10972800" cy="2560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rgbClr val="3A3530"/>
                </a:solidFill>
                <a:latin typeface="Montserrat"/>
                <a:ea typeface="Montserrat"/>
                <a:cs typeface="Montserrat"/>
                <a:sym typeface="Montserrat"/>
              </a:rPr>
              <a:t>TIP QUAN TRỌNG: </a:t>
            </a:r>
            <a:r>
              <a:rPr i="1" lang="en-US" sz="1000">
                <a:solidFill>
                  <a:srgbClr val="3A3530"/>
                </a:solidFill>
                <a:latin typeface="Calibri"/>
                <a:ea typeface="Calibri"/>
                <a:cs typeface="Calibri"/>
                <a:sym typeface="Calibri"/>
              </a:rPr>
              <a:t>Không ép – để khách tự thấy họ nên mua. Đánh đúng 1 insight là đủ.</a:t>
            </a:r>
            <a:endParaRPr/>
          </a:p>
        </p:txBody>
      </p:sp>
      <p:sp>
        <p:nvSpPr>
          <p:cNvPr id="421" name="Google Shape;421;p13"/>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2" name="Google Shape;422;p13"/>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5 phút – 1 insight – 1 hành động: đó là công thức chốt đơn của ngành này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14"/>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8" name="Google Shape;428;p14"/>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429" name="Google Shape;429;p14"/>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DỰ PHÓNG TÀI CHÍNH</a:t>
            </a:r>
            <a:endParaRPr/>
          </a:p>
        </p:txBody>
      </p:sp>
      <p:sp>
        <p:nvSpPr>
          <p:cNvPr id="430" name="Google Shape;430;p14"/>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Cohort hội viên &amp; doanh thu 9 năm (2026 – 2034)</a:t>
            </a:r>
            <a:endParaRPr/>
          </a:p>
        </p:txBody>
      </p:sp>
      <p:cxnSp>
        <p:nvCxnSpPr>
          <p:cNvPr id="431" name="Google Shape;431;p14"/>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432" name="Google Shape;432;p14"/>
          <p:cNvSpPr/>
          <p:nvPr/>
        </p:nvSpPr>
        <p:spPr>
          <a:xfrm>
            <a:off x="1531620" y="1714500"/>
            <a:ext cx="1143000" cy="114300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10.000</a:t>
            </a:r>
            <a:endParaRPr/>
          </a:p>
        </p:txBody>
      </p:sp>
      <p:sp>
        <p:nvSpPr>
          <p:cNvPr id="433" name="Google Shape;433;p14"/>
          <p:cNvSpPr txBox="1"/>
          <p:nvPr/>
        </p:nvSpPr>
        <p:spPr>
          <a:xfrm>
            <a:off x="1257300" y="2903220"/>
            <a:ext cx="1691640" cy="320040"/>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Hội viên / năm</a:t>
            </a:r>
            <a:endParaRPr/>
          </a:p>
        </p:txBody>
      </p:sp>
      <p:sp>
        <p:nvSpPr>
          <p:cNvPr id="434" name="Google Shape;434;p14"/>
          <p:cNvSpPr/>
          <p:nvPr/>
        </p:nvSpPr>
        <p:spPr>
          <a:xfrm>
            <a:off x="4046220" y="1714500"/>
            <a:ext cx="1143000" cy="114300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2 TR</a:t>
            </a:r>
            <a:endParaRPr/>
          </a:p>
        </p:txBody>
      </p:sp>
      <p:sp>
        <p:nvSpPr>
          <p:cNvPr id="435" name="Google Shape;435;p14"/>
          <p:cNvSpPr txBox="1"/>
          <p:nvPr/>
        </p:nvSpPr>
        <p:spPr>
          <a:xfrm>
            <a:off x="3771900" y="2903220"/>
            <a:ext cx="1691640" cy="320040"/>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Phí hội viên</a:t>
            </a:r>
            <a:endParaRPr/>
          </a:p>
        </p:txBody>
      </p:sp>
      <p:sp>
        <p:nvSpPr>
          <p:cNvPr id="436" name="Google Shape;436;p14"/>
          <p:cNvSpPr/>
          <p:nvPr/>
        </p:nvSpPr>
        <p:spPr>
          <a:xfrm>
            <a:off x="6560820" y="1714500"/>
            <a:ext cx="1143000" cy="114300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10 %</a:t>
            </a:r>
            <a:endParaRPr/>
          </a:p>
        </p:txBody>
      </p:sp>
      <p:sp>
        <p:nvSpPr>
          <p:cNvPr id="437" name="Google Shape;437;p14"/>
          <p:cNvSpPr txBox="1"/>
          <p:nvPr/>
        </p:nvSpPr>
        <p:spPr>
          <a:xfrm>
            <a:off x="6286500" y="2903220"/>
            <a:ext cx="1691640" cy="320040"/>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Tỷ lệ chuyển đổi đám / năm</a:t>
            </a:r>
            <a:endParaRPr/>
          </a:p>
        </p:txBody>
      </p:sp>
      <p:sp>
        <p:nvSpPr>
          <p:cNvPr id="438" name="Google Shape;438;p14"/>
          <p:cNvSpPr/>
          <p:nvPr/>
        </p:nvSpPr>
        <p:spPr>
          <a:xfrm>
            <a:off x="9075420" y="1714500"/>
            <a:ext cx="1143000" cy="1143000"/>
          </a:xfrm>
          <a:prstGeom prst="ellipse">
            <a:avLst/>
          </a:prstGeom>
          <a:noFill/>
          <a:ln cap="flat" cmpd="sng" w="28575">
            <a:solidFill>
              <a:srgbClr val="C5A55A"/>
            </a:solidFill>
            <a:prstDash val="solid"/>
            <a:round/>
            <a:headEnd len="sm" w="sm" type="none"/>
            <a:tailEnd len="sm" w="sm" type="none"/>
          </a:ln>
        </p:spPr>
        <p:txBody>
          <a:bodyPr anchorCtr="0" anchor="ctr" bIns="45700" lIns="0" spcFirstLastPara="1" rIns="0" wrap="square" tIns="0">
            <a:noAutofit/>
          </a:bodyPr>
          <a:lstStyle/>
          <a:p>
            <a:pPr indent="0" lvl="0" marL="0" marR="0" rtl="0" algn="ctr">
              <a:spcBef>
                <a:spcPts val="0"/>
              </a:spcBef>
              <a:spcAft>
                <a:spcPts val="0"/>
              </a:spcAft>
              <a:buNone/>
            </a:pPr>
            <a:r>
              <a:rPr b="1" lang="en-US" sz="2200">
                <a:solidFill>
                  <a:srgbClr val="C5A55A"/>
                </a:solidFill>
                <a:latin typeface="Montserrat"/>
                <a:ea typeface="Montserrat"/>
                <a:cs typeface="Montserrat"/>
                <a:sym typeface="Montserrat"/>
              </a:rPr>
              <a:t>~128 TỶ</a:t>
            </a:r>
            <a:endParaRPr/>
          </a:p>
        </p:txBody>
      </p:sp>
      <p:sp>
        <p:nvSpPr>
          <p:cNvPr id="439" name="Google Shape;439;p14"/>
          <p:cNvSpPr txBox="1"/>
          <p:nvPr/>
        </p:nvSpPr>
        <p:spPr>
          <a:xfrm>
            <a:off x="8801100" y="2903220"/>
            <a:ext cx="1691640" cy="320040"/>
          </a:xfrm>
          <a:prstGeom prst="rect">
            <a:avLst/>
          </a:prstGeom>
          <a:noFill/>
          <a:ln>
            <a:noFill/>
          </a:ln>
        </p:spPr>
        <p:txBody>
          <a:bodyPr anchorCtr="0" anchor="t" bIns="45700" lIns="0" spcFirstLastPara="1" rIns="91425" wrap="square" tIns="0">
            <a:spAutoFit/>
          </a:bodyPr>
          <a:lstStyle/>
          <a:p>
            <a:pPr indent="0" lvl="0" marL="0" marR="0" rtl="0" algn="ctr">
              <a:spcBef>
                <a:spcPts val="0"/>
              </a:spcBef>
              <a:spcAft>
                <a:spcPts val="0"/>
              </a:spcAft>
              <a:buNone/>
            </a:pPr>
            <a:r>
              <a:rPr lang="en-US" sz="900">
                <a:solidFill>
                  <a:srgbClr val="5A5040"/>
                </a:solidFill>
                <a:latin typeface="Calibri"/>
                <a:ea typeface="Calibri"/>
                <a:cs typeface="Calibri"/>
                <a:sym typeface="Calibri"/>
              </a:rPr>
              <a:t>Lợi nhuận luỹ kế 9 năm</a:t>
            </a:r>
            <a:endParaRPr/>
          </a:p>
        </p:txBody>
      </p:sp>
      <p:sp>
        <p:nvSpPr>
          <p:cNvPr id="440" name="Google Shape;440;p14"/>
          <p:cNvSpPr/>
          <p:nvPr/>
        </p:nvSpPr>
        <p:spPr>
          <a:xfrm>
            <a:off x="548640" y="3886200"/>
            <a:ext cx="2862072" cy="384048"/>
          </a:xfrm>
          <a:prstGeom prst="rect">
            <a:avLst/>
          </a:prstGeom>
          <a:solidFill>
            <a:srgbClr val="3A353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l">
              <a:spcBef>
                <a:spcPts val="0"/>
              </a:spcBef>
              <a:spcAft>
                <a:spcPts val="0"/>
              </a:spcAft>
              <a:buNone/>
            </a:pPr>
            <a:r>
              <a:rPr b="1" lang="en-US" sz="1000">
                <a:solidFill>
                  <a:srgbClr val="C5A55A"/>
                </a:solidFill>
                <a:latin typeface="Calibri"/>
                <a:ea typeface="Calibri"/>
                <a:cs typeface="Calibri"/>
                <a:sym typeface="Calibri"/>
              </a:rPr>
              <a:t>Năm</a:t>
            </a:r>
            <a:endParaRPr/>
          </a:p>
        </p:txBody>
      </p:sp>
      <p:sp>
        <p:nvSpPr>
          <p:cNvPr id="441" name="Google Shape;441;p14"/>
          <p:cNvSpPr/>
          <p:nvPr/>
        </p:nvSpPr>
        <p:spPr>
          <a:xfrm>
            <a:off x="3410712" y="3886200"/>
            <a:ext cx="914400" cy="384048"/>
          </a:xfrm>
          <a:prstGeom prst="rect">
            <a:avLst/>
          </a:prstGeom>
          <a:solidFill>
            <a:srgbClr val="3A353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C5A55A"/>
                </a:solidFill>
                <a:latin typeface="Calibri"/>
                <a:ea typeface="Calibri"/>
                <a:cs typeface="Calibri"/>
                <a:sym typeface="Calibri"/>
              </a:rPr>
              <a:t>2026</a:t>
            </a:r>
            <a:endParaRPr/>
          </a:p>
        </p:txBody>
      </p:sp>
      <p:sp>
        <p:nvSpPr>
          <p:cNvPr id="442" name="Google Shape;442;p14"/>
          <p:cNvSpPr/>
          <p:nvPr/>
        </p:nvSpPr>
        <p:spPr>
          <a:xfrm>
            <a:off x="4325112" y="3886200"/>
            <a:ext cx="914400" cy="384048"/>
          </a:xfrm>
          <a:prstGeom prst="rect">
            <a:avLst/>
          </a:prstGeom>
          <a:solidFill>
            <a:srgbClr val="3A353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C5A55A"/>
                </a:solidFill>
                <a:latin typeface="Calibri"/>
                <a:ea typeface="Calibri"/>
                <a:cs typeface="Calibri"/>
                <a:sym typeface="Calibri"/>
              </a:rPr>
              <a:t>2027</a:t>
            </a:r>
            <a:endParaRPr/>
          </a:p>
        </p:txBody>
      </p:sp>
      <p:sp>
        <p:nvSpPr>
          <p:cNvPr id="443" name="Google Shape;443;p14"/>
          <p:cNvSpPr/>
          <p:nvPr/>
        </p:nvSpPr>
        <p:spPr>
          <a:xfrm>
            <a:off x="5239512" y="3886200"/>
            <a:ext cx="914400" cy="384048"/>
          </a:xfrm>
          <a:prstGeom prst="rect">
            <a:avLst/>
          </a:prstGeom>
          <a:solidFill>
            <a:srgbClr val="3A353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C5A55A"/>
                </a:solidFill>
                <a:latin typeface="Calibri"/>
                <a:ea typeface="Calibri"/>
                <a:cs typeface="Calibri"/>
                <a:sym typeface="Calibri"/>
              </a:rPr>
              <a:t>2028</a:t>
            </a:r>
            <a:endParaRPr/>
          </a:p>
        </p:txBody>
      </p:sp>
      <p:sp>
        <p:nvSpPr>
          <p:cNvPr id="444" name="Google Shape;444;p14"/>
          <p:cNvSpPr/>
          <p:nvPr/>
        </p:nvSpPr>
        <p:spPr>
          <a:xfrm>
            <a:off x="6153912" y="3886200"/>
            <a:ext cx="914400" cy="384048"/>
          </a:xfrm>
          <a:prstGeom prst="rect">
            <a:avLst/>
          </a:prstGeom>
          <a:solidFill>
            <a:srgbClr val="3A353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C5A55A"/>
                </a:solidFill>
                <a:latin typeface="Calibri"/>
                <a:ea typeface="Calibri"/>
                <a:cs typeface="Calibri"/>
                <a:sym typeface="Calibri"/>
              </a:rPr>
              <a:t>2029</a:t>
            </a:r>
            <a:endParaRPr/>
          </a:p>
        </p:txBody>
      </p:sp>
      <p:sp>
        <p:nvSpPr>
          <p:cNvPr id="445" name="Google Shape;445;p14"/>
          <p:cNvSpPr/>
          <p:nvPr/>
        </p:nvSpPr>
        <p:spPr>
          <a:xfrm>
            <a:off x="7068312" y="3886200"/>
            <a:ext cx="914400" cy="384048"/>
          </a:xfrm>
          <a:prstGeom prst="rect">
            <a:avLst/>
          </a:prstGeom>
          <a:solidFill>
            <a:srgbClr val="3A353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C5A55A"/>
                </a:solidFill>
                <a:latin typeface="Calibri"/>
                <a:ea typeface="Calibri"/>
                <a:cs typeface="Calibri"/>
                <a:sym typeface="Calibri"/>
              </a:rPr>
              <a:t>2030</a:t>
            </a:r>
            <a:endParaRPr/>
          </a:p>
        </p:txBody>
      </p:sp>
      <p:sp>
        <p:nvSpPr>
          <p:cNvPr id="446" name="Google Shape;446;p14"/>
          <p:cNvSpPr/>
          <p:nvPr/>
        </p:nvSpPr>
        <p:spPr>
          <a:xfrm>
            <a:off x="7982712" y="3886200"/>
            <a:ext cx="914400" cy="384048"/>
          </a:xfrm>
          <a:prstGeom prst="rect">
            <a:avLst/>
          </a:prstGeom>
          <a:solidFill>
            <a:srgbClr val="3A353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C5A55A"/>
                </a:solidFill>
                <a:latin typeface="Calibri"/>
                <a:ea typeface="Calibri"/>
                <a:cs typeface="Calibri"/>
                <a:sym typeface="Calibri"/>
              </a:rPr>
              <a:t>2031</a:t>
            </a:r>
            <a:endParaRPr/>
          </a:p>
        </p:txBody>
      </p:sp>
      <p:sp>
        <p:nvSpPr>
          <p:cNvPr id="447" name="Google Shape;447;p14"/>
          <p:cNvSpPr/>
          <p:nvPr/>
        </p:nvSpPr>
        <p:spPr>
          <a:xfrm>
            <a:off x="8897112" y="3886200"/>
            <a:ext cx="914400" cy="384048"/>
          </a:xfrm>
          <a:prstGeom prst="rect">
            <a:avLst/>
          </a:prstGeom>
          <a:solidFill>
            <a:srgbClr val="3A353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C5A55A"/>
                </a:solidFill>
                <a:latin typeface="Calibri"/>
                <a:ea typeface="Calibri"/>
                <a:cs typeface="Calibri"/>
                <a:sym typeface="Calibri"/>
              </a:rPr>
              <a:t>2032</a:t>
            </a:r>
            <a:endParaRPr/>
          </a:p>
        </p:txBody>
      </p:sp>
      <p:sp>
        <p:nvSpPr>
          <p:cNvPr id="448" name="Google Shape;448;p14"/>
          <p:cNvSpPr/>
          <p:nvPr/>
        </p:nvSpPr>
        <p:spPr>
          <a:xfrm>
            <a:off x="9811512" y="3886200"/>
            <a:ext cx="914400" cy="384048"/>
          </a:xfrm>
          <a:prstGeom prst="rect">
            <a:avLst/>
          </a:prstGeom>
          <a:solidFill>
            <a:srgbClr val="3A353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C5A55A"/>
                </a:solidFill>
                <a:latin typeface="Calibri"/>
                <a:ea typeface="Calibri"/>
                <a:cs typeface="Calibri"/>
                <a:sym typeface="Calibri"/>
              </a:rPr>
              <a:t>2033</a:t>
            </a:r>
            <a:endParaRPr/>
          </a:p>
        </p:txBody>
      </p:sp>
      <p:sp>
        <p:nvSpPr>
          <p:cNvPr id="449" name="Google Shape;449;p14"/>
          <p:cNvSpPr/>
          <p:nvPr/>
        </p:nvSpPr>
        <p:spPr>
          <a:xfrm>
            <a:off x="10725912" y="3886200"/>
            <a:ext cx="914400" cy="384048"/>
          </a:xfrm>
          <a:prstGeom prst="rect">
            <a:avLst/>
          </a:prstGeom>
          <a:solidFill>
            <a:srgbClr val="3A353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C5A55A"/>
                </a:solidFill>
                <a:latin typeface="Calibri"/>
                <a:ea typeface="Calibri"/>
                <a:cs typeface="Calibri"/>
                <a:sym typeface="Calibri"/>
              </a:rPr>
              <a:t>2034</a:t>
            </a:r>
            <a:endParaRPr/>
          </a:p>
        </p:txBody>
      </p:sp>
      <p:sp>
        <p:nvSpPr>
          <p:cNvPr id="450" name="Google Shape;450;p14"/>
          <p:cNvSpPr/>
          <p:nvPr/>
        </p:nvSpPr>
        <p:spPr>
          <a:xfrm>
            <a:off x="548640" y="4270248"/>
            <a:ext cx="2862072"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l">
              <a:spcBef>
                <a:spcPts val="0"/>
              </a:spcBef>
              <a:spcAft>
                <a:spcPts val="0"/>
              </a:spcAft>
              <a:buNone/>
            </a:pPr>
            <a:r>
              <a:rPr b="0" lang="en-US" sz="1000">
                <a:solidFill>
                  <a:srgbClr val="3A3530"/>
                </a:solidFill>
                <a:latin typeface="Calibri"/>
                <a:ea typeface="Calibri"/>
                <a:cs typeface="Calibri"/>
                <a:sym typeface="Calibri"/>
              </a:rPr>
              <a:t>Hội viên cộng dồn (ngàn)</a:t>
            </a:r>
            <a:endParaRPr/>
          </a:p>
        </p:txBody>
      </p:sp>
      <p:sp>
        <p:nvSpPr>
          <p:cNvPr id="451" name="Google Shape;451;p14"/>
          <p:cNvSpPr/>
          <p:nvPr/>
        </p:nvSpPr>
        <p:spPr>
          <a:xfrm>
            <a:off x="3410712" y="4270248"/>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6,7</a:t>
            </a:r>
            <a:endParaRPr/>
          </a:p>
        </p:txBody>
      </p:sp>
      <p:sp>
        <p:nvSpPr>
          <p:cNvPr id="452" name="Google Shape;452;p14"/>
          <p:cNvSpPr/>
          <p:nvPr/>
        </p:nvSpPr>
        <p:spPr>
          <a:xfrm>
            <a:off x="4325112" y="4270248"/>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16,7</a:t>
            </a:r>
            <a:endParaRPr/>
          </a:p>
        </p:txBody>
      </p:sp>
      <p:sp>
        <p:nvSpPr>
          <p:cNvPr id="453" name="Google Shape;453;p14"/>
          <p:cNvSpPr/>
          <p:nvPr/>
        </p:nvSpPr>
        <p:spPr>
          <a:xfrm>
            <a:off x="5239512" y="4270248"/>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26,7</a:t>
            </a:r>
            <a:endParaRPr/>
          </a:p>
        </p:txBody>
      </p:sp>
      <p:sp>
        <p:nvSpPr>
          <p:cNvPr id="454" name="Google Shape;454;p14"/>
          <p:cNvSpPr/>
          <p:nvPr/>
        </p:nvSpPr>
        <p:spPr>
          <a:xfrm>
            <a:off x="6153912" y="4270248"/>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36,7</a:t>
            </a:r>
            <a:endParaRPr/>
          </a:p>
        </p:txBody>
      </p:sp>
      <p:sp>
        <p:nvSpPr>
          <p:cNvPr id="455" name="Google Shape;455;p14"/>
          <p:cNvSpPr/>
          <p:nvPr/>
        </p:nvSpPr>
        <p:spPr>
          <a:xfrm>
            <a:off x="7068312" y="4270248"/>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46,7</a:t>
            </a:r>
            <a:endParaRPr/>
          </a:p>
        </p:txBody>
      </p:sp>
      <p:sp>
        <p:nvSpPr>
          <p:cNvPr id="456" name="Google Shape;456;p14"/>
          <p:cNvSpPr/>
          <p:nvPr/>
        </p:nvSpPr>
        <p:spPr>
          <a:xfrm>
            <a:off x="7982712" y="4270248"/>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56,7</a:t>
            </a:r>
            <a:endParaRPr/>
          </a:p>
        </p:txBody>
      </p:sp>
      <p:sp>
        <p:nvSpPr>
          <p:cNvPr id="457" name="Google Shape;457;p14"/>
          <p:cNvSpPr/>
          <p:nvPr/>
        </p:nvSpPr>
        <p:spPr>
          <a:xfrm>
            <a:off x="8897112" y="4270248"/>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66,7</a:t>
            </a:r>
            <a:endParaRPr/>
          </a:p>
        </p:txBody>
      </p:sp>
      <p:sp>
        <p:nvSpPr>
          <p:cNvPr id="458" name="Google Shape;458;p14"/>
          <p:cNvSpPr/>
          <p:nvPr/>
        </p:nvSpPr>
        <p:spPr>
          <a:xfrm>
            <a:off x="9811512" y="4270248"/>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76,7</a:t>
            </a:r>
            <a:endParaRPr/>
          </a:p>
        </p:txBody>
      </p:sp>
      <p:sp>
        <p:nvSpPr>
          <p:cNvPr id="459" name="Google Shape;459;p14"/>
          <p:cNvSpPr/>
          <p:nvPr/>
        </p:nvSpPr>
        <p:spPr>
          <a:xfrm>
            <a:off x="10725912" y="4270248"/>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86,7</a:t>
            </a:r>
            <a:endParaRPr/>
          </a:p>
        </p:txBody>
      </p:sp>
      <p:sp>
        <p:nvSpPr>
          <p:cNvPr id="460" name="Google Shape;460;p14"/>
          <p:cNvSpPr/>
          <p:nvPr/>
        </p:nvSpPr>
        <p:spPr>
          <a:xfrm>
            <a:off x="548640" y="4654296"/>
            <a:ext cx="2862072" cy="384048"/>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l">
              <a:spcBef>
                <a:spcPts val="0"/>
              </a:spcBef>
              <a:spcAft>
                <a:spcPts val="0"/>
              </a:spcAft>
              <a:buNone/>
            </a:pPr>
            <a:r>
              <a:rPr b="0" lang="en-US" sz="1000">
                <a:solidFill>
                  <a:srgbClr val="3A3530"/>
                </a:solidFill>
                <a:latin typeface="Calibri"/>
                <a:ea typeface="Calibri"/>
                <a:cs typeface="Calibri"/>
                <a:sym typeface="Calibri"/>
              </a:rPr>
              <a:t>Doanh thu (tỷ VNĐ)</a:t>
            </a:r>
            <a:endParaRPr/>
          </a:p>
        </p:txBody>
      </p:sp>
      <p:sp>
        <p:nvSpPr>
          <p:cNvPr id="461" name="Google Shape;461;p14"/>
          <p:cNvSpPr/>
          <p:nvPr/>
        </p:nvSpPr>
        <p:spPr>
          <a:xfrm>
            <a:off x="3410712" y="4654296"/>
            <a:ext cx="914400" cy="384048"/>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13</a:t>
            </a:r>
            <a:endParaRPr/>
          </a:p>
        </p:txBody>
      </p:sp>
      <p:sp>
        <p:nvSpPr>
          <p:cNvPr id="462" name="Google Shape;462;p14"/>
          <p:cNvSpPr/>
          <p:nvPr/>
        </p:nvSpPr>
        <p:spPr>
          <a:xfrm>
            <a:off x="4325112" y="4654296"/>
            <a:ext cx="914400" cy="384048"/>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101</a:t>
            </a:r>
            <a:endParaRPr/>
          </a:p>
        </p:txBody>
      </p:sp>
      <p:sp>
        <p:nvSpPr>
          <p:cNvPr id="463" name="Google Shape;463;p14"/>
          <p:cNvSpPr/>
          <p:nvPr/>
        </p:nvSpPr>
        <p:spPr>
          <a:xfrm>
            <a:off x="5239512" y="4654296"/>
            <a:ext cx="914400" cy="384048"/>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222</a:t>
            </a:r>
            <a:endParaRPr/>
          </a:p>
        </p:txBody>
      </p:sp>
      <p:sp>
        <p:nvSpPr>
          <p:cNvPr id="464" name="Google Shape;464;p14"/>
          <p:cNvSpPr/>
          <p:nvPr/>
        </p:nvSpPr>
        <p:spPr>
          <a:xfrm>
            <a:off x="6153912" y="4654296"/>
            <a:ext cx="914400" cy="384048"/>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341</a:t>
            </a:r>
            <a:endParaRPr/>
          </a:p>
        </p:txBody>
      </p:sp>
      <p:sp>
        <p:nvSpPr>
          <p:cNvPr id="465" name="Google Shape;465;p14"/>
          <p:cNvSpPr/>
          <p:nvPr/>
        </p:nvSpPr>
        <p:spPr>
          <a:xfrm>
            <a:off x="7068312" y="4654296"/>
            <a:ext cx="914400" cy="384048"/>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458</a:t>
            </a:r>
            <a:endParaRPr/>
          </a:p>
        </p:txBody>
      </p:sp>
      <p:sp>
        <p:nvSpPr>
          <p:cNvPr id="466" name="Google Shape;466;p14"/>
          <p:cNvSpPr/>
          <p:nvPr/>
        </p:nvSpPr>
        <p:spPr>
          <a:xfrm>
            <a:off x="7982712" y="4654296"/>
            <a:ext cx="914400" cy="384048"/>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574</a:t>
            </a:r>
            <a:endParaRPr/>
          </a:p>
        </p:txBody>
      </p:sp>
      <p:sp>
        <p:nvSpPr>
          <p:cNvPr id="467" name="Google Shape;467;p14"/>
          <p:cNvSpPr/>
          <p:nvPr/>
        </p:nvSpPr>
        <p:spPr>
          <a:xfrm>
            <a:off x="8897112" y="4654296"/>
            <a:ext cx="914400" cy="384048"/>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689</a:t>
            </a:r>
            <a:endParaRPr/>
          </a:p>
        </p:txBody>
      </p:sp>
      <p:sp>
        <p:nvSpPr>
          <p:cNvPr id="468" name="Google Shape;468;p14"/>
          <p:cNvSpPr/>
          <p:nvPr/>
        </p:nvSpPr>
        <p:spPr>
          <a:xfrm>
            <a:off x="9811512" y="4654296"/>
            <a:ext cx="914400" cy="384048"/>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805</a:t>
            </a:r>
            <a:endParaRPr/>
          </a:p>
        </p:txBody>
      </p:sp>
      <p:sp>
        <p:nvSpPr>
          <p:cNvPr id="469" name="Google Shape;469;p14"/>
          <p:cNvSpPr/>
          <p:nvPr/>
        </p:nvSpPr>
        <p:spPr>
          <a:xfrm>
            <a:off x="10725912" y="4654296"/>
            <a:ext cx="914400" cy="384048"/>
          </a:xfrm>
          <a:prstGeom prst="rect">
            <a:avLst/>
          </a:prstGeom>
          <a:solidFill>
            <a:srgbClr val="F5F0EB"/>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920</a:t>
            </a:r>
            <a:endParaRPr/>
          </a:p>
        </p:txBody>
      </p:sp>
      <p:sp>
        <p:nvSpPr>
          <p:cNvPr id="470" name="Google Shape;470;p14"/>
          <p:cNvSpPr/>
          <p:nvPr/>
        </p:nvSpPr>
        <p:spPr>
          <a:xfrm>
            <a:off x="548640" y="5038344"/>
            <a:ext cx="2862072"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l">
              <a:spcBef>
                <a:spcPts val="0"/>
              </a:spcBef>
              <a:spcAft>
                <a:spcPts val="0"/>
              </a:spcAft>
              <a:buNone/>
            </a:pPr>
            <a:r>
              <a:rPr b="0" lang="en-US" sz="1000">
                <a:solidFill>
                  <a:srgbClr val="3A3530"/>
                </a:solidFill>
                <a:latin typeface="Calibri"/>
                <a:ea typeface="Calibri"/>
                <a:cs typeface="Calibri"/>
                <a:sym typeface="Calibri"/>
              </a:rPr>
              <a:t>Chi phí (tỷ VNĐ)</a:t>
            </a:r>
            <a:endParaRPr/>
          </a:p>
        </p:txBody>
      </p:sp>
      <p:sp>
        <p:nvSpPr>
          <p:cNvPr id="471" name="Google Shape;471;p14"/>
          <p:cNvSpPr/>
          <p:nvPr/>
        </p:nvSpPr>
        <p:spPr>
          <a:xfrm>
            <a:off x="3410712" y="5038344"/>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6</a:t>
            </a:r>
            <a:endParaRPr/>
          </a:p>
        </p:txBody>
      </p:sp>
      <p:sp>
        <p:nvSpPr>
          <p:cNvPr id="472" name="Google Shape;472;p14"/>
          <p:cNvSpPr/>
          <p:nvPr/>
        </p:nvSpPr>
        <p:spPr>
          <a:xfrm>
            <a:off x="4325112" y="5038344"/>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85</a:t>
            </a:r>
            <a:endParaRPr/>
          </a:p>
        </p:txBody>
      </p:sp>
      <p:sp>
        <p:nvSpPr>
          <p:cNvPr id="473" name="Google Shape;473;p14"/>
          <p:cNvSpPr/>
          <p:nvPr/>
        </p:nvSpPr>
        <p:spPr>
          <a:xfrm>
            <a:off x="5239512" y="5038344"/>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203</a:t>
            </a:r>
            <a:endParaRPr/>
          </a:p>
        </p:txBody>
      </p:sp>
      <p:sp>
        <p:nvSpPr>
          <p:cNvPr id="474" name="Google Shape;474;p14"/>
          <p:cNvSpPr/>
          <p:nvPr/>
        </p:nvSpPr>
        <p:spPr>
          <a:xfrm>
            <a:off x="6153912" y="5038344"/>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321</a:t>
            </a:r>
            <a:endParaRPr/>
          </a:p>
        </p:txBody>
      </p:sp>
      <p:sp>
        <p:nvSpPr>
          <p:cNvPr id="475" name="Google Shape;475;p14"/>
          <p:cNvSpPr/>
          <p:nvPr/>
        </p:nvSpPr>
        <p:spPr>
          <a:xfrm>
            <a:off x="7068312" y="5038344"/>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439</a:t>
            </a:r>
            <a:endParaRPr/>
          </a:p>
        </p:txBody>
      </p:sp>
      <p:sp>
        <p:nvSpPr>
          <p:cNvPr id="476" name="Google Shape;476;p14"/>
          <p:cNvSpPr/>
          <p:nvPr/>
        </p:nvSpPr>
        <p:spPr>
          <a:xfrm>
            <a:off x="7982712" y="5038344"/>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558</a:t>
            </a:r>
            <a:endParaRPr/>
          </a:p>
        </p:txBody>
      </p:sp>
      <p:sp>
        <p:nvSpPr>
          <p:cNvPr id="477" name="Google Shape;477;p14"/>
          <p:cNvSpPr/>
          <p:nvPr/>
        </p:nvSpPr>
        <p:spPr>
          <a:xfrm>
            <a:off x="8897112" y="5038344"/>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676</a:t>
            </a:r>
            <a:endParaRPr/>
          </a:p>
        </p:txBody>
      </p:sp>
      <p:sp>
        <p:nvSpPr>
          <p:cNvPr id="478" name="Google Shape;478;p14"/>
          <p:cNvSpPr/>
          <p:nvPr/>
        </p:nvSpPr>
        <p:spPr>
          <a:xfrm>
            <a:off x="9811512" y="5038344"/>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795</a:t>
            </a:r>
            <a:endParaRPr/>
          </a:p>
        </p:txBody>
      </p:sp>
      <p:sp>
        <p:nvSpPr>
          <p:cNvPr id="479" name="Google Shape;479;p14"/>
          <p:cNvSpPr/>
          <p:nvPr/>
        </p:nvSpPr>
        <p:spPr>
          <a:xfrm>
            <a:off x="10725912" y="5038344"/>
            <a:ext cx="914400" cy="384048"/>
          </a:xfrm>
          <a:prstGeom prst="rect">
            <a:avLst/>
          </a:prstGeom>
          <a:solidFill>
            <a:srgbClr val="FFFFFF"/>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0" lang="en-US" sz="1000">
                <a:solidFill>
                  <a:srgbClr val="3A3530"/>
                </a:solidFill>
                <a:latin typeface="Calibri"/>
                <a:ea typeface="Calibri"/>
                <a:cs typeface="Calibri"/>
                <a:sym typeface="Calibri"/>
              </a:rPr>
              <a:t>913</a:t>
            </a:r>
            <a:endParaRPr/>
          </a:p>
        </p:txBody>
      </p:sp>
      <p:sp>
        <p:nvSpPr>
          <p:cNvPr id="480" name="Google Shape;480;p14"/>
          <p:cNvSpPr/>
          <p:nvPr/>
        </p:nvSpPr>
        <p:spPr>
          <a:xfrm>
            <a:off x="548640" y="5422392"/>
            <a:ext cx="2862072" cy="384048"/>
          </a:xfrm>
          <a:prstGeom prst="rect">
            <a:avLst/>
          </a:prstGeom>
          <a:solidFill>
            <a:srgbClr val="E8D9B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l">
              <a:spcBef>
                <a:spcPts val="0"/>
              </a:spcBef>
              <a:spcAft>
                <a:spcPts val="0"/>
              </a:spcAft>
              <a:buNone/>
            </a:pPr>
            <a:r>
              <a:rPr b="1" lang="en-US" sz="1000">
                <a:solidFill>
                  <a:srgbClr val="3A3530"/>
                </a:solidFill>
                <a:latin typeface="Calibri"/>
                <a:ea typeface="Calibri"/>
                <a:cs typeface="Calibri"/>
                <a:sym typeface="Calibri"/>
              </a:rPr>
              <a:t>Lợi nhuận (tỷ VNĐ)</a:t>
            </a:r>
            <a:endParaRPr/>
          </a:p>
        </p:txBody>
      </p:sp>
      <p:sp>
        <p:nvSpPr>
          <p:cNvPr id="481" name="Google Shape;481;p14"/>
          <p:cNvSpPr/>
          <p:nvPr/>
        </p:nvSpPr>
        <p:spPr>
          <a:xfrm>
            <a:off x="3410712" y="5422392"/>
            <a:ext cx="914400" cy="384048"/>
          </a:xfrm>
          <a:prstGeom prst="rect">
            <a:avLst/>
          </a:prstGeom>
          <a:solidFill>
            <a:srgbClr val="E8D9B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3A3530"/>
                </a:solidFill>
                <a:latin typeface="Calibri"/>
                <a:ea typeface="Calibri"/>
                <a:cs typeface="Calibri"/>
                <a:sym typeface="Calibri"/>
              </a:rPr>
              <a:t>8</a:t>
            </a:r>
            <a:endParaRPr/>
          </a:p>
        </p:txBody>
      </p:sp>
      <p:sp>
        <p:nvSpPr>
          <p:cNvPr id="482" name="Google Shape;482;p14"/>
          <p:cNvSpPr/>
          <p:nvPr/>
        </p:nvSpPr>
        <p:spPr>
          <a:xfrm>
            <a:off x="4325112" y="5422392"/>
            <a:ext cx="914400" cy="384048"/>
          </a:xfrm>
          <a:prstGeom prst="rect">
            <a:avLst/>
          </a:prstGeom>
          <a:solidFill>
            <a:srgbClr val="E8D9B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3A3530"/>
                </a:solidFill>
                <a:latin typeface="Calibri"/>
                <a:ea typeface="Calibri"/>
                <a:cs typeface="Calibri"/>
                <a:sym typeface="Calibri"/>
              </a:rPr>
              <a:t>17</a:t>
            </a:r>
            <a:endParaRPr/>
          </a:p>
        </p:txBody>
      </p:sp>
      <p:sp>
        <p:nvSpPr>
          <p:cNvPr id="483" name="Google Shape;483;p14"/>
          <p:cNvSpPr/>
          <p:nvPr/>
        </p:nvSpPr>
        <p:spPr>
          <a:xfrm>
            <a:off x="5239512" y="5422392"/>
            <a:ext cx="914400" cy="384048"/>
          </a:xfrm>
          <a:prstGeom prst="rect">
            <a:avLst/>
          </a:prstGeom>
          <a:solidFill>
            <a:srgbClr val="E8D9B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3A3530"/>
                </a:solidFill>
                <a:latin typeface="Calibri"/>
                <a:ea typeface="Calibri"/>
                <a:cs typeface="Calibri"/>
                <a:sym typeface="Calibri"/>
              </a:rPr>
              <a:t>19</a:t>
            </a:r>
            <a:endParaRPr/>
          </a:p>
        </p:txBody>
      </p:sp>
      <p:sp>
        <p:nvSpPr>
          <p:cNvPr id="484" name="Google Shape;484;p14"/>
          <p:cNvSpPr/>
          <p:nvPr/>
        </p:nvSpPr>
        <p:spPr>
          <a:xfrm>
            <a:off x="6153912" y="5422392"/>
            <a:ext cx="914400" cy="384048"/>
          </a:xfrm>
          <a:prstGeom prst="rect">
            <a:avLst/>
          </a:prstGeom>
          <a:solidFill>
            <a:srgbClr val="E8D9B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3A3530"/>
                </a:solidFill>
                <a:latin typeface="Calibri"/>
                <a:ea typeface="Calibri"/>
                <a:cs typeface="Calibri"/>
                <a:sym typeface="Calibri"/>
              </a:rPr>
              <a:t>20</a:t>
            </a:r>
            <a:endParaRPr/>
          </a:p>
        </p:txBody>
      </p:sp>
      <p:sp>
        <p:nvSpPr>
          <p:cNvPr id="485" name="Google Shape;485;p14"/>
          <p:cNvSpPr/>
          <p:nvPr/>
        </p:nvSpPr>
        <p:spPr>
          <a:xfrm>
            <a:off x="7068312" y="5422392"/>
            <a:ext cx="914400" cy="384048"/>
          </a:xfrm>
          <a:prstGeom prst="rect">
            <a:avLst/>
          </a:prstGeom>
          <a:solidFill>
            <a:srgbClr val="E8D9B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3A3530"/>
                </a:solidFill>
                <a:latin typeface="Calibri"/>
                <a:ea typeface="Calibri"/>
                <a:cs typeface="Calibri"/>
                <a:sym typeface="Calibri"/>
              </a:rPr>
              <a:t>19</a:t>
            </a:r>
            <a:endParaRPr/>
          </a:p>
        </p:txBody>
      </p:sp>
      <p:sp>
        <p:nvSpPr>
          <p:cNvPr id="486" name="Google Shape;486;p14"/>
          <p:cNvSpPr/>
          <p:nvPr/>
        </p:nvSpPr>
        <p:spPr>
          <a:xfrm>
            <a:off x="7982712" y="5422392"/>
            <a:ext cx="914400" cy="384048"/>
          </a:xfrm>
          <a:prstGeom prst="rect">
            <a:avLst/>
          </a:prstGeom>
          <a:solidFill>
            <a:srgbClr val="E8D9B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3A3530"/>
                </a:solidFill>
                <a:latin typeface="Calibri"/>
                <a:ea typeface="Calibri"/>
                <a:cs typeface="Calibri"/>
                <a:sym typeface="Calibri"/>
              </a:rPr>
              <a:t>16</a:t>
            </a:r>
            <a:endParaRPr/>
          </a:p>
        </p:txBody>
      </p:sp>
      <p:sp>
        <p:nvSpPr>
          <p:cNvPr id="487" name="Google Shape;487;p14"/>
          <p:cNvSpPr/>
          <p:nvPr/>
        </p:nvSpPr>
        <p:spPr>
          <a:xfrm>
            <a:off x="8897112" y="5422392"/>
            <a:ext cx="914400" cy="384048"/>
          </a:xfrm>
          <a:prstGeom prst="rect">
            <a:avLst/>
          </a:prstGeom>
          <a:solidFill>
            <a:srgbClr val="E8D9B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3A3530"/>
                </a:solidFill>
                <a:latin typeface="Calibri"/>
                <a:ea typeface="Calibri"/>
                <a:cs typeface="Calibri"/>
                <a:sym typeface="Calibri"/>
              </a:rPr>
              <a:t>13</a:t>
            </a:r>
            <a:endParaRPr/>
          </a:p>
        </p:txBody>
      </p:sp>
      <p:sp>
        <p:nvSpPr>
          <p:cNvPr id="488" name="Google Shape;488;p14"/>
          <p:cNvSpPr/>
          <p:nvPr/>
        </p:nvSpPr>
        <p:spPr>
          <a:xfrm>
            <a:off x="9811512" y="5422392"/>
            <a:ext cx="914400" cy="384048"/>
          </a:xfrm>
          <a:prstGeom prst="rect">
            <a:avLst/>
          </a:prstGeom>
          <a:solidFill>
            <a:srgbClr val="E8D9B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3A3530"/>
                </a:solidFill>
                <a:latin typeface="Calibri"/>
                <a:ea typeface="Calibri"/>
                <a:cs typeface="Calibri"/>
                <a:sym typeface="Calibri"/>
              </a:rPr>
              <a:t>10</a:t>
            </a:r>
            <a:endParaRPr/>
          </a:p>
        </p:txBody>
      </p:sp>
      <p:sp>
        <p:nvSpPr>
          <p:cNvPr id="489" name="Google Shape;489;p14"/>
          <p:cNvSpPr/>
          <p:nvPr/>
        </p:nvSpPr>
        <p:spPr>
          <a:xfrm>
            <a:off x="10725912" y="5422392"/>
            <a:ext cx="914400" cy="384048"/>
          </a:xfrm>
          <a:prstGeom prst="rect">
            <a:avLst/>
          </a:prstGeom>
          <a:solidFill>
            <a:srgbClr val="E8D9B0"/>
          </a:solidFill>
          <a:ln cap="flat" cmpd="sng" w="9525">
            <a:solidFill>
              <a:srgbClr val="D4C9B5"/>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r">
              <a:spcBef>
                <a:spcPts val="0"/>
              </a:spcBef>
              <a:spcAft>
                <a:spcPts val="0"/>
              </a:spcAft>
              <a:buNone/>
            </a:pPr>
            <a:r>
              <a:rPr b="1" lang="en-US" sz="1000">
                <a:solidFill>
                  <a:srgbClr val="3A3530"/>
                </a:solidFill>
                <a:latin typeface="Calibri"/>
                <a:ea typeface="Calibri"/>
                <a:cs typeface="Calibri"/>
                <a:sym typeface="Calibri"/>
              </a:rPr>
              <a:t>7</a:t>
            </a:r>
            <a:endParaRPr/>
          </a:p>
        </p:txBody>
      </p:sp>
      <p:sp>
        <p:nvSpPr>
          <p:cNvPr id="490" name="Google Shape;490;p14"/>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1" name="Google Shape;491;p14"/>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Ước tính: 10.000 hội viên / năm × 10 % chuyển đổi → ~128 tỷ lợi nhuận luỹ kế</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5"/>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7" name="Google Shape;497;p15"/>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498" name="Google Shape;498;p15"/>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PHÂN CÔNG TRIỂN KHAI</a:t>
            </a:r>
            <a:endParaRPr/>
          </a:p>
        </p:txBody>
      </p:sp>
      <p:sp>
        <p:nvSpPr>
          <p:cNvPr id="499" name="Google Shape;499;p15"/>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Trách nhiệm các phòng ban khi phổ biến chính sách</a:t>
            </a:r>
            <a:endParaRPr/>
          </a:p>
        </p:txBody>
      </p:sp>
      <p:cxnSp>
        <p:nvCxnSpPr>
          <p:cNvPr id="500" name="Google Shape;500;p15"/>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501" name="Google Shape;501;p15"/>
          <p:cNvSpPr/>
          <p:nvPr/>
        </p:nvSpPr>
        <p:spPr>
          <a:xfrm>
            <a:off x="548640" y="1691640"/>
            <a:ext cx="3575304" cy="210312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2" name="Google Shape;502;p15"/>
          <p:cNvSpPr txBox="1"/>
          <p:nvPr/>
        </p:nvSpPr>
        <p:spPr>
          <a:xfrm>
            <a:off x="685800" y="1828800"/>
            <a:ext cx="3300984"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SALES &amp; CTV</a:t>
            </a:r>
            <a:endParaRPr/>
          </a:p>
        </p:txBody>
      </p:sp>
      <p:sp>
        <p:nvSpPr>
          <p:cNvPr id="503" name="Google Shape;503;p15"/>
          <p:cNvSpPr txBox="1"/>
          <p:nvPr/>
        </p:nvSpPr>
        <p:spPr>
          <a:xfrm>
            <a:off x="685800" y="2240280"/>
            <a:ext cx="3300984" cy="1417320"/>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Thuộc kịch bản chốt cọc 5 phút</a:t>
            </a:r>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Nắm rõ biểu chiết khấu theo thời gian</a:t>
            </a:r>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Giới thiệu RTB và pain points</a:t>
            </a:r>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Theo dõi chỉ tiêu Quota hội viên</a:t>
            </a:r>
            <a:endParaRPr/>
          </a:p>
        </p:txBody>
      </p:sp>
      <p:sp>
        <p:nvSpPr>
          <p:cNvPr id="504" name="Google Shape;504;p15"/>
          <p:cNvSpPr/>
          <p:nvPr/>
        </p:nvSpPr>
        <p:spPr>
          <a:xfrm>
            <a:off x="4306824" y="1691640"/>
            <a:ext cx="3575304" cy="210312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 name="Google Shape;505;p15"/>
          <p:cNvSpPr txBox="1"/>
          <p:nvPr/>
        </p:nvSpPr>
        <p:spPr>
          <a:xfrm>
            <a:off x="4443984" y="1828800"/>
            <a:ext cx="1972656" cy="215444"/>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CHĂM SÓC KHÁCH HÀNG</a:t>
            </a:r>
            <a:endParaRPr/>
          </a:p>
        </p:txBody>
      </p:sp>
      <p:sp>
        <p:nvSpPr>
          <p:cNvPr id="506" name="Google Shape;506;p15"/>
          <p:cNvSpPr txBox="1"/>
          <p:nvPr/>
        </p:nvSpPr>
        <p:spPr>
          <a:xfrm>
            <a:off x="4443984" y="2240280"/>
            <a:ext cx="3300984" cy="785728"/>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Tư vấn Kế hoạch tang lễ &amp; lưu trữ thông tin</a:t>
            </a:r>
            <a:endParaRPr sz="9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Vận hành hotline 24/7</a:t>
            </a:r>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Tổ chức event, workshop cho hội viên</a:t>
            </a:r>
            <a:endParaRPr sz="9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Xử lý thay đổi đối tượng thụ hưởng</a:t>
            </a:r>
            <a:endParaRPr sz="950">
              <a:solidFill>
                <a:srgbClr val="3A3530"/>
              </a:solidFill>
              <a:latin typeface="Calibri"/>
              <a:ea typeface="Calibri"/>
              <a:cs typeface="Calibri"/>
              <a:sym typeface="Calibri"/>
            </a:endParaRPr>
          </a:p>
        </p:txBody>
      </p:sp>
      <p:sp>
        <p:nvSpPr>
          <p:cNvPr id="507" name="Google Shape;507;p15"/>
          <p:cNvSpPr/>
          <p:nvPr/>
        </p:nvSpPr>
        <p:spPr>
          <a:xfrm>
            <a:off x="8065008" y="1691640"/>
            <a:ext cx="3575304" cy="210312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8" name="Google Shape;508;p15"/>
          <p:cNvSpPr txBox="1"/>
          <p:nvPr/>
        </p:nvSpPr>
        <p:spPr>
          <a:xfrm>
            <a:off x="8202168" y="1828800"/>
            <a:ext cx="3404137" cy="215444"/>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ADMIN VẬN HÀNH CHƯƠNG TRÌNH HỘI VIÊN</a:t>
            </a:r>
            <a:endParaRPr b="1" sz="1100">
              <a:solidFill>
                <a:srgbClr val="C5A55A"/>
              </a:solidFill>
              <a:latin typeface="Montserrat"/>
              <a:ea typeface="Montserrat"/>
              <a:cs typeface="Montserrat"/>
              <a:sym typeface="Montserrat"/>
            </a:endParaRPr>
          </a:p>
        </p:txBody>
      </p:sp>
      <p:sp>
        <p:nvSpPr>
          <p:cNvPr id="509" name="Google Shape;509;p15"/>
          <p:cNvSpPr txBox="1"/>
          <p:nvPr/>
        </p:nvSpPr>
        <p:spPr>
          <a:xfrm>
            <a:off x="8202168" y="2240280"/>
            <a:ext cx="3300984" cy="1417320"/>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Xác nhận Phiếu sử dụng quyền lợi</a:t>
            </a:r>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Ghi nhận ưu đãi vào hoá đơn DVTL</a:t>
            </a:r>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Đảm bảo ưu tiên nguồn lực cho hội viên</a:t>
            </a:r>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Phối hợp Sala Garden &amp; Kim Care</a:t>
            </a:r>
            <a:endParaRPr/>
          </a:p>
        </p:txBody>
      </p:sp>
      <p:sp>
        <p:nvSpPr>
          <p:cNvPr id="510" name="Google Shape;510;p15"/>
          <p:cNvSpPr/>
          <p:nvPr/>
        </p:nvSpPr>
        <p:spPr>
          <a:xfrm>
            <a:off x="548640" y="3977640"/>
            <a:ext cx="3575304" cy="210312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1" name="Google Shape;511;p15"/>
          <p:cNvSpPr txBox="1"/>
          <p:nvPr/>
        </p:nvSpPr>
        <p:spPr>
          <a:xfrm>
            <a:off x="685800" y="4114800"/>
            <a:ext cx="3300984"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MARKETING</a:t>
            </a:r>
            <a:endParaRPr/>
          </a:p>
        </p:txBody>
      </p:sp>
      <p:sp>
        <p:nvSpPr>
          <p:cNvPr id="512" name="Google Shape;512;p15"/>
          <p:cNvSpPr txBox="1"/>
          <p:nvPr/>
        </p:nvSpPr>
        <p:spPr>
          <a:xfrm>
            <a:off x="685800" y="4526280"/>
            <a:ext cx="3300984" cy="591957"/>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Thiết kế Brochure, Thẻ hội viên, Saleskit</a:t>
            </a:r>
            <a:endParaRPr sz="9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Triển khai kênh Online, Facebook, TikTok</a:t>
            </a:r>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Lan toả thông điệp qua khách hàng cũ</a:t>
            </a:r>
            <a:endParaRPr sz="950">
              <a:solidFill>
                <a:srgbClr val="3A3530"/>
              </a:solidFill>
              <a:latin typeface="Calibri"/>
              <a:ea typeface="Calibri"/>
              <a:cs typeface="Calibri"/>
              <a:sym typeface="Calibri"/>
            </a:endParaRPr>
          </a:p>
        </p:txBody>
      </p:sp>
      <p:sp>
        <p:nvSpPr>
          <p:cNvPr id="513" name="Google Shape;513;p15"/>
          <p:cNvSpPr/>
          <p:nvPr/>
        </p:nvSpPr>
        <p:spPr>
          <a:xfrm>
            <a:off x="4306824" y="3977640"/>
            <a:ext cx="3575304" cy="210312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4" name="Google Shape;514;p15"/>
          <p:cNvSpPr txBox="1"/>
          <p:nvPr/>
        </p:nvSpPr>
        <p:spPr>
          <a:xfrm>
            <a:off x="4443984" y="4114800"/>
            <a:ext cx="3300984"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IT &amp; CRM</a:t>
            </a:r>
            <a:endParaRPr/>
          </a:p>
        </p:txBody>
      </p:sp>
      <p:sp>
        <p:nvSpPr>
          <p:cNvPr id="515" name="Google Shape;515;p15"/>
          <p:cNvSpPr txBox="1"/>
          <p:nvPr/>
        </p:nvSpPr>
        <p:spPr>
          <a:xfrm>
            <a:off x="4443984" y="4526280"/>
            <a:ext cx="3300984" cy="785728"/>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Tạo account hội viên trong CRM</a:t>
            </a:r>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Đính kèm hồ sơ theo từng khách hàng</a:t>
            </a:r>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Digital Flow: đăng ký &amp; thanh toán online</a:t>
            </a:r>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Quản lý version T&amp;C theo khách hàng</a:t>
            </a:r>
            <a:endParaRPr sz="950">
              <a:solidFill>
                <a:srgbClr val="3A3530"/>
              </a:solidFill>
              <a:latin typeface="Calibri"/>
              <a:ea typeface="Calibri"/>
              <a:cs typeface="Calibri"/>
              <a:sym typeface="Calibri"/>
            </a:endParaRPr>
          </a:p>
        </p:txBody>
      </p:sp>
      <p:sp>
        <p:nvSpPr>
          <p:cNvPr id="516" name="Google Shape;516;p15"/>
          <p:cNvSpPr/>
          <p:nvPr/>
        </p:nvSpPr>
        <p:spPr>
          <a:xfrm>
            <a:off x="8065008" y="3977640"/>
            <a:ext cx="3575304" cy="210312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 name="Google Shape;517;p15"/>
          <p:cNvSpPr txBox="1"/>
          <p:nvPr/>
        </p:nvSpPr>
        <p:spPr>
          <a:xfrm>
            <a:off x="8202168" y="4114800"/>
            <a:ext cx="3300984" cy="32004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1100">
                <a:solidFill>
                  <a:srgbClr val="C5A55A"/>
                </a:solidFill>
                <a:latin typeface="Montserrat"/>
                <a:ea typeface="Montserrat"/>
                <a:cs typeface="Montserrat"/>
                <a:sym typeface="Montserrat"/>
              </a:rPr>
              <a:t>PHÁP CHẾ &amp; KẾ TOÁN</a:t>
            </a:r>
            <a:endParaRPr/>
          </a:p>
        </p:txBody>
      </p:sp>
      <p:sp>
        <p:nvSpPr>
          <p:cNvPr id="518" name="Google Shape;518;p15"/>
          <p:cNvSpPr txBox="1"/>
          <p:nvPr/>
        </p:nvSpPr>
        <p:spPr>
          <a:xfrm>
            <a:off x="8202168" y="4526280"/>
            <a:ext cx="3300984" cy="979499"/>
          </a:xfrm>
          <a:prstGeom prst="rect">
            <a:avLst/>
          </a:prstGeom>
          <a:noFill/>
          <a:ln>
            <a:noFill/>
          </a:ln>
        </p:spPr>
        <p:txBody>
          <a:bodyPr anchorCtr="0" anchor="t" bIns="45700" lIns="0" spcFirstLastPara="1" rIns="91425" wrap="square" tIns="0">
            <a:spAutoFit/>
          </a:bodyPr>
          <a:lstStyle/>
          <a:p>
            <a:pPr indent="0" lvl="0" marL="0" marR="0" rtl="0" algn="l">
              <a:lnSpc>
                <a:spcPct val="115000"/>
              </a:lnSpc>
              <a:spcBef>
                <a:spcPts val="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Kiểm soát T&amp;C đăng trên website</a:t>
            </a:r>
            <a:endParaRPr sz="9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Quản lý Quota hội viên mỗi năm</a:t>
            </a:r>
            <a:endParaRPr sz="9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Quản lý 02 bản Phiếu đăng ký hội viên</a:t>
            </a:r>
            <a:endParaRPr sz="9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Theo dõi dòng tiền phí hội viên</a:t>
            </a:r>
            <a:endParaRPr sz="950">
              <a:solidFill>
                <a:srgbClr val="3A3530"/>
              </a:solidFill>
              <a:latin typeface="Calibri"/>
              <a:ea typeface="Calibri"/>
              <a:cs typeface="Calibri"/>
              <a:sym typeface="Calibri"/>
            </a:endParaRPr>
          </a:p>
          <a:p>
            <a:pPr indent="0" lvl="0" marL="0" marR="0" rtl="0" algn="l">
              <a:lnSpc>
                <a:spcPct val="115000"/>
              </a:lnSpc>
              <a:spcBef>
                <a:spcPts val="200"/>
              </a:spcBef>
              <a:spcAft>
                <a:spcPts val="0"/>
              </a:spcAft>
              <a:buNone/>
            </a:pPr>
            <a:r>
              <a:rPr b="1" lang="en-US" sz="950">
                <a:solidFill>
                  <a:srgbClr val="C5A55A"/>
                </a:solidFill>
                <a:latin typeface="Calibri"/>
                <a:ea typeface="Calibri"/>
                <a:cs typeface="Calibri"/>
                <a:sym typeface="Calibri"/>
              </a:rPr>
              <a:t>▪  </a:t>
            </a:r>
            <a:r>
              <a:rPr lang="en-US" sz="950">
                <a:solidFill>
                  <a:srgbClr val="3A3530"/>
                </a:solidFill>
                <a:latin typeface="Calibri"/>
                <a:ea typeface="Calibri"/>
                <a:cs typeface="Calibri"/>
                <a:sym typeface="Calibri"/>
              </a:rPr>
              <a:t>Hạch toán chiết khấu vào hoá đơn</a:t>
            </a:r>
            <a:endParaRPr sz="950">
              <a:solidFill>
                <a:srgbClr val="3A3530"/>
              </a:solidFill>
              <a:latin typeface="Calibri"/>
              <a:ea typeface="Calibri"/>
              <a:cs typeface="Calibri"/>
              <a:sym typeface="Calibri"/>
            </a:endParaRPr>
          </a:p>
        </p:txBody>
      </p:sp>
      <p:sp>
        <p:nvSpPr>
          <p:cNvPr id="519" name="Google Shape;519;p15"/>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0" name="Google Shape;520;p15"/>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Triển khai đồng bộ 6 phòng ban – mỗi ca đăng ký hội viên phải qua đủ 5 bước quy trình</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16"/>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6" name="Google Shape;526;p16"/>
          <p:cNvSpPr txBox="1"/>
          <p:nvPr/>
        </p:nvSpPr>
        <p:spPr>
          <a:xfrm>
            <a:off x="9601200" y="228600"/>
            <a:ext cx="2377440" cy="411480"/>
          </a:xfrm>
          <a:prstGeom prst="rect">
            <a:avLst/>
          </a:prstGeom>
          <a:noFill/>
          <a:ln>
            <a:noFill/>
          </a:ln>
        </p:spPr>
        <p:txBody>
          <a:bodyPr anchorCtr="0" anchor="t" bIns="45700" lIns="0" spcFirstLastPara="1" rIns="0" wrap="square" tIns="45700">
            <a:spAutoFit/>
          </a:bodyPr>
          <a:lstStyle/>
          <a:p>
            <a:pPr indent="0" lvl="0" marL="0" marR="0" rtl="0" algn="r">
              <a:spcBef>
                <a:spcPts val="0"/>
              </a:spcBef>
              <a:spcAft>
                <a:spcPts val="0"/>
              </a:spcAft>
              <a:buNone/>
            </a:pPr>
            <a:r>
              <a:rPr b="1" lang="en-US" sz="1300">
                <a:solidFill>
                  <a:srgbClr val="3A3530"/>
                </a:solidFill>
                <a:latin typeface="Montserrat"/>
                <a:ea typeface="Montserrat"/>
                <a:cs typeface="Montserrat"/>
                <a:sym typeface="Montserrat"/>
              </a:rPr>
              <a:t>BLACKSTONES</a:t>
            </a:r>
            <a:endParaRPr/>
          </a:p>
          <a:p>
            <a:pPr indent="0" lvl="0" marL="0" marR="0" rtl="0" algn="r">
              <a:spcBef>
                <a:spcPts val="0"/>
              </a:spcBef>
              <a:spcAft>
                <a:spcPts val="0"/>
              </a:spcAft>
              <a:buNone/>
            </a:pPr>
            <a:r>
              <a:rPr i="1" lang="en-US" sz="800">
                <a:solidFill>
                  <a:srgbClr val="8B7E6A"/>
                </a:solidFill>
                <a:latin typeface="Georgia"/>
                <a:ea typeface="Georgia"/>
                <a:cs typeface="Georgia"/>
                <a:sym typeface="Georgia"/>
              </a:rPr>
              <a:t>Hành trình tôn vinh &amp; tưởng nhớ</a:t>
            </a:r>
            <a:endParaRPr/>
          </a:p>
        </p:txBody>
      </p:sp>
      <p:sp>
        <p:nvSpPr>
          <p:cNvPr id="527" name="Google Shape;527;p16"/>
          <p:cNvSpPr txBox="1"/>
          <p:nvPr/>
        </p:nvSpPr>
        <p:spPr>
          <a:xfrm>
            <a:off x="548640" y="320040"/>
            <a:ext cx="9144000" cy="64008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b="1" lang="en-US" sz="2800">
                <a:solidFill>
                  <a:srgbClr val="C5A55A"/>
                </a:solidFill>
                <a:latin typeface="Montserrat"/>
                <a:ea typeface="Montserrat"/>
                <a:cs typeface="Montserrat"/>
                <a:sym typeface="Montserrat"/>
              </a:rPr>
              <a:t>CÁC BƯỚC TIẾP THEO</a:t>
            </a:r>
            <a:endParaRPr/>
          </a:p>
        </p:txBody>
      </p:sp>
      <p:sp>
        <p:nvSpPr>
          <p:cNvPr id="528" name="Google Shape;528;p16"/>
          <p:cNvSpPr txBox="1"/>
          <p:nvPr/>
        </p:nvSpPr>
        <p:spPr>
          <a:xfrm>
            <a:off x="548640" y="914400"/>
            <a:ext cx="10058400" cy="365760"/>
          </a:xfrm>
          <a:prstGeom prst="rect">
            <a:avLst/>
          </a:prstGeom>
          <a:noFill/>
          <a:ln>
            <a:noFill/>
          </a:ln>
        </p:spPr>
        <p:txBody>
          <a:bodyPr anchorCtr="0" anchor="t" bIns="45700" lIns="0" spcFirstLastPara="1" rIns="91425" wrap="square" tIns="0">
            <a:spAutoFit/>
          </a:bodyPr>
          <a:lstStyle/>
          <a:p>
            <a:pPr indent="0" lvl="0" marL="0" marR="0" rtl="0" algn="l">
              <a:spcBef>
                <a:spcPts val="0"/>
              </a:spcBef>
              <a:spcAft>
                <a:spcPts val="0"/>
              </a:spcAft>
              <a:buNone/>
            </a:pPr>
            <a:r>
              <a:rPr i="1" lang="en-US" sz="1400">
                <a:solidFill>
                  <a:srgbClr val="5A5040"/>
                </a:solidFill>
                <a:latin typeface="Georgia"/>
                <a:ea typeface="Georgia"/>
                <a:cs typeface="Georgia"/>
                <a:sym typeface="Georgia"/>
              </a:rPr>
              <a:t>Lộ trình triển khai chương trình hội viên</a:t>
            </a:r>
            <a:endParaRPr/>
          </a:p>
        </p:txBody>
      </p:sp>
      <p:cxnSp>
        <p:nvCxnSpPr>
          <p:cNvPr id="529" name="Google Shape;529;p16"/>
          <p:cNvCxnSpPr/>
          <p:nvPr/>
        </p:nvCxnSpPr>
        <p:spPr>
          <a:xfrm>
            <a:off x="548640" y="1353312"/>
            <a:ext cx="182880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530" name="Google Shape;530;p16"/>
          <p:cNvSpPr/>
          <p:nvPr/>
        </p:nvSpPr>
        <p:spPr>
          <a:xfrm>
            <a:off x="548640" y="1920240"/>
            <a:ext cx="2601468" cy="329184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1" name="Google Shape;531;p16"/>
          <p:cNvSpPr txBox="1"/>
          <p:nvPr/>
        </p:nvSpPr>
        <p:spPr>
          <a:xfrm>
            <a:off x="731520" y="2148840"/>
            <a:ext cx="2235708"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A55A"/>
                </a:solidFill>
                <a:latin typeface="Montserrat"/>
                <a:ea typeface="Montserrat"/>
                <a:cs typeface="Montserrat"/>
                <a:sym typeface="Montserrat"/>
              </a:rPr>
              <a:t>TUẦN 1</a:t>
            </a:r>
            <a:endParaRPr/>
          </a:p>
        </p:txBody>
      </p:sp>
      <p:cxnSp>
        <p:nvCxnSpPr>
          <p:cNvPr id="532" name="Google Shape;532;p16"/>
          <p:cNvCxnSpPr/>
          <p:nvPr/>
        </p:nvCxnSpPr>
        <p:spPr>
          <a:xfrm>
            <a:off x="0" y="2788920"/>
            <a:ext cx="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533" name="Google Shape;533;p16"/>
          <p:cNvSpPr txBox="1"/>
          <p:nvPr/>
        </p:nvSpPr>
        <p:spPr>
          <a:xfrm>
            <a:off x="731520" y="2926080"/>
            <a:ext cx="223570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A3530"/>
                </a:solidFill>
                <a:latin typeface="Montserrat"/>
                <a:ea typeface="Montserrat"/>
                <a:cs typeface="Montserrat"/>
                <a:sym typeface="Montserrat"/>
              </a:rPr>
              <a:t>Phê duyệt cuối</a:t>
            </a:r>
            <a:endParaRPr/>
          </a:p>
        </p:txBody>
      </p:sp>
      <p:sp>
        <p:nvSpPr>
          <p:cNvPr id="534" name="Google Shape;534;p16"/>
          <p:cNvSpPr txBox="1"/>
          <p:nvPr/>
        </p:nvSpPr>
        <p:spPr>
          <a:xfrm>
            <a:off x="731520" y="3429000"/>
            <a:ext cx="2235708" cy="1737360"/>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1050">
                <a:solidFill>
                  <a:srgbClr val="3A3530"/>
                </a:solidFill>
                <a:latin typeface="Calibri"/>
                <a:ea typeface="Calibri"/>
                <a:cs typeface="Calibri"/>
                <a:sym typeface="Calibri"/>
              </a:rPr>
              <a:t>Hoàn thiện bộ T&amp;C, Phiếu đăng ký, Phiếu xác nhận; ký ban hành chính sách</a:t>
            </a:r>
            <a:endParaRPr/>
          </a:p>
        </p:txBody>
      </p:sp>
      <p:sp>
        <p:nvSpPr>
          <p:cNvPr id="535" name="Google Shape;535;p16"/>
          <p:cNvSpPr/>
          <p:nvPr/>
        </p:nvSpPr>
        <p:spPr>
          <a:xfrm>
            <a:off x="3378708" y="1920240"/>
            <a:ext cx="2601468" cy="329184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6" name="Google Shape;536;p16"/>
          <p:cNvSpPr txBox="1"/>
          <p:nvPr/>
        </p:nvSpPr>
        <p:spPr>
          <a:xfrm>
            <a:off x="3561588" y="2148840"/>
            <a:ext cx="2235708"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A55A"/>
                </a:solidFill>
                <a:latin typeface="Montserrat"/>
                <a:ea typeface="Montserrat"/>
                <a:cs typeface="Montserrat"/>
                <a:sym typeface="Montserrat"/>
              </a:rPr>
              <a:t>TUẦN 2</a:t>
            </a:r>
            <a:endParaRPr/>
          </a:p>
        </p:txBody>
      </p:sp>
      <p:cxnSp>
        <p:nvCxnSpPr>
          <p:cNvPr id="537" name="Google Shape;537;p16"/>
          <p:cNvCxnSpPr/>
          <p:nvPr/>
        </p:nvCxnSpPr>
        <p:spPr>
          <a:xfrm>
            <a:off x="0" y="2788920"/>
            <a:ext cx="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538" name="Google Shape;538;p16"/>
          <p:cNvSpPr txBox="1"/>
          <p:nvPr/>
        </p:nvSpPr>
        <p:spPr>
          <a:xfrm>
            <a:off x="3561588" y="2926080"/>
            <a:ext cx="223570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A3530"/>
                </a:solidFill>
                <a:latin typeface="Montserrat"/>
                <a:ea typeface="Montserrat"/>
                <a:cs typeface="Montserrat"/>
                <a:sym typeface="Montserrat"/>
              </a:rPr>
              <a:t>Đào tạo nội bộ</a:t>
            </a:r>
            <a:endParaRPr/>
          </a:p>
        </p:txBody>
      </p:sp>
      <p:sp>
        <p:nvSpPr>
          <p:cNvPr id="539" name="Google Shape;539;p16"/>
          <p:cNvSpPr txBox="1"/>
          <p:nvPr/>
        </p:nvSpPr>
        <p:spPr>
          <a:xfrm>
            <a:off x="3561588" y="3429000"/>
            <a:ext cx="2235708" cy="1737360"/>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1050">
                <a:solidFill>
                  <a:srgbClr val="3A3530"/>
                </a:solidFill>
                <a:latin typeface="Calibri"/>
                <a:ea typeface="Calibri"/>
                <a:cs typeface="Calibri"/>
                <a:sym typeface="Calibri"/>
              </a:rPr>
              <a:t>Train toàn bộ Sales, CTV, CSKH, Vận hành về quyền lợi, quy trình &amp; kịch bản chốt</a:t>
            </a:r>
            <a:endParaRPr/>
          </a:p>
        </p:txBody>
      </p:sp>
      <p:sp>
        <p:nvSpPr>
          <p:cNvPr id="540" name="Google Shape;540;p16"/>
          <p:cNvSpPr/>
          <p:nvPr/>
        </p:nvSpPr>
        <p:spPr>
          <a:xfrm>
            <a:off x="6208776" y="1920240"/>
            <a:ext cx="2601468" cy="329184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1" name="Google Shape;541;p16"/>
          <p:cNvSpPr txBox="1"/>
          <p:nvPr/>
        </p:nvSpPr>
        <p:spPr>
          <a:xfrm>
            <a:off x="6391656" y="2148840"/>
            <a:ext cx="2235708"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A55A"/>
                </a:solidFill>
                <a:latin typeface="Montserrat"/>
                <a:ea typeface="Montserrat"/>
                <a:cs typeface="Montserrat"/>
                <a:sym typeface="Montserrat"/>
              </a:rPr>
              <a:t>TUẦN 3</a:t>
            </a:r>
            <a:endParaRPr/>
          </a:p>
        </p:txBody>
      </p:sp>
      <p:cxnSp>
        <p:nvCxnSpPr>
          <p:cNvPr id="542" name="Google Shape;542;p16"/>
          <p:cNvCxnSpPr/>
          <p:nvPr/>
        </p:nvCxnSpPr>
        <p:spPr>
          <a:xfrm>
            <a:off x="0" y="2788920"/>
            <a:ext cx="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543" name="Google Shape;543;p16"/>
          <p:cNvSpPr txBox="1"/>
          <p:nvPr/>
        </p:nvSpPr>
        <p:spPr>
          <a:xfrm>
            <a:off x="6391656" y="2926080"/>
            <a:ext cx="223570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A3530"/>
                </a:solidFill>
                <a:latin typeface="Montserrat"/>
                <a:ea typeface="Montserrat"/>
                <a:cs typeface="Montserrat"/>
                <a:sym typeface="Montserrat"/>
              </a:rPr>
              <a:t>Chạy thử pilot</a:t>
            </a:r>
            <a:endParaRPr/>
          </a:p>
        </p:txBody>
      </p:sp>
      <p:sp>
        <p:nvSpPr>
          <p:cNvPr id="544" name="Google Shape;544;p16"/>
          <p:cNvSpPr txBox="1"/>
          <p:nvPr/>
        </p:nvSpPr>
        <p:spPr>
          <a:xfrm>
            <a:off x="6391656" y="3429000"/>
            <a:ext cx="2235708" cy="1737360"/>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1050">
                <a:solidFill>
                  <a:srgbClr val="3A3530"/>
                </a:solidFill>
                <a:latin typeface="Calibri"/>
                <a:ea typeface="Calibri"/>
                <a:cs typeface="Calibri"/>
                <a:sym typeface="Calibri"/>
              </a:rPr>
              <a:t>Pilot tại 1–2 chi nhánh, rà soát hồ sơ, CRM, in thẻ hội viên mẫu</a:t>
            </a:r>
            <a:endParaRPr/>
          </a:p>
        </p:txBody>
      </p:sp>
      <p:sp>
        <p:nvSpPr>
          <p:cNvPr id="545" name="Google Shape;545;p16"/>
          <p:cNvSpPr/>
          <p:nvPr/>
        </p:nvSpPr>
        <p:spPr>
          <a:xfrm>
            <a:off x="9038844" y="1920240"/>
            <a:ext cx="2601468" cy="3291840"/>
          </a:xfrm>
          <a:prstGeom prst="roundRect">
            <a:avLst>
              <a:gd fmla="val 8000" name="adj"/>
            </a:avLst>
          </a:prstGeom>
          <a:solidFill>
            <a:srgbClr val="FFFFFF"/>
          </a:solidFill>
          <a:ln cap="flat" cmpd="sng" w="9525">
            <a:solidFill>
              <a:srgbClr val="D4C9B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6" name="Google Shape;546;p16"/>
          <p:cNvSpPr txBox="1"/>
          <p:nvPr/>
        </p:nvSpPr>
        <p:spPr>
          <a:xfrm>
            <a:off x="9221724" y="2148840"/>
            <a:ext cx="2235708"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5A55A"/>
                </a:solidFill>
                <a:latin typeface="Montserrat"/>
                <a:ea typeface="Montserrat"/>
                <a:cs typeface="Montserrat"/>
                <a:sym typeface="Montserrat"/>
              </a:rPr>
              <a:t>TUẦN 4</a:t>
            </a:r>
            <a:endParaRPr/>
          </a:p>
        </p:txBody>
      </p:sp>
      <p:cxnSp>
        <p:nvCxnSpPr>
          <p:cNvPr id="547" name="Google Shape;547;p16"/>
          <p:cNvCxnSpPr/>
          <p:nvPr/>
        </p:nvCxnSpPr>
        <p:spPr>
          <a:xfrm>
            <a:off x="0" y="2788920"/>
            <a:ext cx="0" cy="0"/>
          </a:xfrm>
          <a:prstGeom prst="straightConnector1">
            <a:avLst/>
          </a:prstGeom>
          <a:noFill/>
          <a:ln cap="flat" cmpd="sng" w="15875">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548" name="Google Shape;548;p16"/>
          <p:cNvSpPr txBox="1"/>
          <p:nvPr/>
        </p:nvSpPr>
        <p:spPr>
          <a:xfrm>
            <a:off x="9221724" y="2926080"/>
            <a:ext cx="223570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A3530"/>
                </a:solidFill>
                <a:latin typeface="Montserrat"/>
                <a:ea typeface="Montserrat"/>
                <a:cs typeface="Montserrat"/>
                <a:sym typeface="Montserrat"/>
              </a:rPr>
              <a:t>Ra mắt chính thức</a:t>
            </a:r>
            <a:endParaRPr/>
          </a:p>
        </p:txBody>
      </p:sp>
      <p:sp>
        <p:nvSpPr>
          <p:cNvPr id="549" name="Google Shape;549;p16"/>
          <p:cNvSpPr txBox="1"/>
          <p:nvPr/>
        </p:nvSpPr>
        <p:spPr>
          <a:xfrm>
            <a:off x="9221724" y="3429000"/>
            <a:ext cx="2235708" cy="1737360"/>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lang="en-US" sz="1050">
                <a:solidFill>
                  <a:srgbClr val="3A3530"/>
                </a:solidFill>
                <a:latin typeface="Calibri"/>
                <a:ea typeface="Calibri"/>
                <a:cs typeface="Calibri"/>
                <a:sym typeface="Calibri"/>
              </a:rPr>
              <a:t>Công bố chương trình – kênh Online, Offline – khởi động campaign marketing</a:t>
            </a:r>
            <a:endParaRPr/>
          </a:p>
        </p:txBody>
      </p:sp>
      <p:sp>
        <p:nvSpPr>
          <p:cNvPr id="550" name="Google Shape;550;p16"/>
          <p:cNvSpPr/>
          <p:nvPr/>
        </p:nvSpPr>
        <p:spPr>
          <a:xfrm>
            <a:off x="548640" y="5394960"/>
            <a:ext cx="11091672" cy="777240"/>
          </a:xfrm>
          <a:prstGeom prst="roundRect">
            <a:avLst>
              <a:gd fmla="val 8000" name="adj"/>
            </a:avLst>
          </a:prstGeom>
          <a:solidFill>
            <a:srgbClr val="E8D9B0"/>
          </a:solidFill>
          <a:ln cap="flat" cmpd="sng" w="9525">
            <a:solidFill>
              <a:srgbClr val="C5A55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1" name="Google Shape;551;p16"/>
          <p:cNvSpPr txBox="1"/>
          <p:nvPr/>
        </p:nvSpPr>
        <p:spPr>
          <a:xfrm>
            <a:off x="777240" y="5458968"/>
            <a:ext cx="1060704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A3530"/>
                </a:solidFill>
                <a:latin typeface="Montserrat"/>
                <a:ea typeface="Montserrat"/>
                <a:cs typeface="Montserrat"/>
                <a:sym typeface="Montserrat"/>
              </a:rPr>
              <a:t>CHỈ TIÊU THÀNH CÔNG NĂM 2026:  </a:t>
            </a:r>
            <a:r>
              <a:rPr i="1" lang="en-US" sz="1100">
                <a:solidFill>
                  <a:srgbClr val="3A3530"/>
                </a:solidFill>
                <a:latin typeface="Calibri"/>
                <a:ea typeface="Calibri"/>
                <a:cs typeface="Calibri"/>
                <a:sym typeface="Calibri"/>
              </a:rPr>
              <a:t>6.700 hội viên đăng ký  ·  Quota kiểm soát theo năng lực cung ứng  ·  100 % hồ sơ được lưu CRM đích danh  ·  0 khiếu nại pháp lý</a:t>
            </a:r>
            <a:endParaRPr/>
          </a:p>
        </p:txBody>
      </p:sp>
      <p:sp>
        <p:nvSpPr>
          <p:cNvPr id="552" name="Google Shape;552;p16"/>
          <p:cNvSpPr/>
          <p:nvPr/>
        </p:nvSpPr>
        <p:spPr>
          <a:xfrm>
            <a:off x="0" y="6263640"/>
            <a:ext cx="12191695" cy="457200"/>
          </a:xfrm>
          <a:prstGeom prst="rect">
            <a:avLst/>
          </a:prstGeom>
          <a:solidFill>
            <a:srgbClr val="3A353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3" name="Google Shape;553;p16"/>
          <p:cNvSpPr txBox="1"/>
          <p:nvPr/>
        </p:nvSpPr>
        <p:spPr>
          <a:xfrm>
            <a:off x="548640" y="6263640"/>
            <a:ext cx="1115568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E8D9B0"/>
                </a:solidFill>
                <a:latin typeface="Georgia"/>
                <a:ea typeface="Georgia"/>
                <a:cs typeface="Georgia"/>
                <a:sym typeface="Georgia"/>
              </a:rPr>
              <a:t>Mục tiêu: ra mắt chính thức trong vòng 4 tuần kể từ ngày phê duyệt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17"/>
          <p:cNvSpPr/>
          <p:nvPr/>
        </p:nvSpPr>
        <p:spPr>
          <a:xfrm>
            <a:off x="0" y="0"/>
            <a:ext cx="12191695" cy="6858000"/>
          </a:xfrm>
          <a:prstGeom prst="rect">
            <a:avLst/>
          </a:prstGeom>
          <a:solidFill>
            <a:srgbClr val="F5F0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9" name="Google Shape;559;p17"/>
          <p:cNvSpPr txBox="1"/>
          <p:nvPr/>
        </p:nvSpPr>
        <p:spPr>
          <a:xfrm>
            <a:off x="0" y="2011680"/>
            <a:ext cx="12191695" cy="7315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400">
                <a:solidFill>
                  <a:srgbClr val="C5A55A"/>
                </a:solidFill>
                <a:latin typeface="Montserrat"/>
                <a:ea typeface="Montserrat"/>
                <a:cs typeface="Montserrat"/>
                <a:sym typeface="Montserrat"/>
              </a:rPr>
              <a:t>AN TÂM VÀ TIN CẬY</a:t>
            </a:r>
            <a:endParaRPr/>
          </a:p>
        </p:txBody>
      </p:sp>
      <p:cxnSp>
        <p:nvCxnSpPr>
          <p:cNvPr id="560" name="Google Shape;560;p17"/>
          <p:cNvCxnSpPr/>
          <p:nvPr/>
        </p:nvCxnSpPr>
        <p:spPr>
          <a:xfrm>
            <a:off x="5184648" y="2971800"/>
            <a:ext cx="1828800" cy="0"/>
          </a:xfrm>
          <a:prstGeom prst="straightConnector1">
            <a:avLst/>
          </a:prstGeom>
          <a:noFill/>
          <a:ln cap="flat" cmpd="sng" w="19050">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561" name="Google Shape;561;p17"/>
          <p:cNvSpPr txBox="1"/>
          <p:nvPr/>
        </p:nvSpPr>
        <p:spPr>
          <a:xfrm>
            <a:off x="0" y="3200400"/>
            <a:ext cx="12191695" cy="54864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rgbClr val="5A5040"/>
                </a:solidFill>
                <a:latin typeface="Georgia"/>
                <a:ea typeface="Georgia"/>
                <a:cs typeface="Georgia"/>
                <a:sym typeface="Georgia"/>
              </a:rPr>
              <a:t>Hành trình chuẩn bị trọn vẹn cho 10 năm tiếp theo</a:t>
            </a:r>
            <a:endParaRPr/>
          </a:p>
        </p:txBody>
      </p:sp>
      <p:sp>
        <p:nvSpPr>
          <p:cNvPr id="562" name="Google Shape;562;p17"/>
          <p:cNvSpPr txBox="1"/>
          <p:nvPr/>
        </p:nvSpPr>
        <p:spPr>
          <a:xfrm>
            <a:off x="0" y="3931920"/>
            <a:ext cx="12191695"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3A3530"/>
                </a:solidFill>
                <a:latin typeface="Montserrat"/>
                <a:ea typeface="Montserrat"/>
                <a:cs typeface="Montserrat"/>
                <a:sym typeface="Montserrat"/>
              </a:rPr>
              <a:t>CÁM ƠN VÀ SẴN SÀNG TRIỂN KHAI</a:t>
            </a:r>
            <a:endParaRPr/>
          </a:p>
        </p:txBody>
      </p:sp>
      <p:cxnSp>
        <p:nvCxnSpPr>
          <p:cNvPr id="563" name="Google Shape;563;p17"/>
          <p:cNvCxnSpPr/>
          <p:nvPr/>
        </p:nvCxnSpPr>
        <p:spPr>
          <a:xfrm>
            <a:off x="548640" y="6035040"/>
            <a:ext cx="11091672" cy="0"/>
          </a:xfrm>
          <a:prstGeom prst="straightConnector1">
            <a:avLst/>
          </a:prstGeom>
          <a:noFill/>
          <a:ln cap="flat" cmpd="sng" w="12700">
            <a:solidFill>
              <a:srgbClr val="C5A55A"/>
            </a:solidFill>
            <a:prstDash val="solid"/>
            <a:round/>
            <a:headEnd len="sm" w="sm" type="none"/>
            <a:tailEnd len="sm" w="sm" type="none"/>
          </a:ln>
          <a:effectLst>
            <a:outerShdw blurRad="40000" rotWithShape="0" dir="5400000" dist="20000">
              <a:srgbClr val="000000">
                <a:alpha val="38039"/>
              </a:srgbClr>
            </a:outerShdw>
          </a:effectLst>
        </p:spPr>
      </p:cxnSp>
      <p:sp>
        <p:nvSpPr>
          <p:cNvPr id="564" name="Google Shape;564;p17"/>
          <p:cNvSpPr txBox="1"/>
          <p:nvPr/>
        </p:nvSpPr>
        <p:spPr>
          <a:xfrm>
            <a:off x="548640" y="6108192"/>
            <a:ext cx="11091672" cy="2743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8B7E6A"/>
                </a:solidFill>
                <a:latin typeface="Calibri"/>
                <a:ea typeface="Calibri"/>
                <a:cs typeface="Calibri"/>
                <a:sym typeface="Calibri"/>
              </a:rPr>
              <a:t>BLACKSTONES  ·  Hành Trình Tôn Vinh &amp; Tưởng Nhớ  ·  www.blackstones.vn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Vu Ton</dc:creator>
</cp:coreProperties>
</file>